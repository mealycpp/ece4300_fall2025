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EE29EA-1F9F-40F8-9770-AA1D85CADF63}">
  <a:tblStyle styleId="{D1EE29EA-1F9F-40F8-9770-AA1D85CADF6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Montserrat-regular.fntdata"/><Relationship Id="rId27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5.xml"/><Relationship Id="rId33" Type="http://schemas.openxmlformats.org/officeDocument/2006/relationships/font" Target="fonts/Lato-bold.fntdata"/><Relationship Id="rId10" Type="http://schemas.openxmlformats.org/officeDocument/2006/relationships/slide" Target="slides/slide4.xml"/><Relationship Id="rId32" Type="http://schemas.openxmlformats.org/officeDocument/2006/relationships/font" Target="fonts/Lato-regular.fntdata"/><Relationship Id="rId13" Type="http://schemas.openxmlformats.org/officeDocument/2006/relationships/slide" Target="slides/slide7.xml"/><Relationship Id="rId35" Type="http://schemas.openxmlformats.org/officeDocument/2006/relationships/font" Target="fonts/Lato-boldItalic.fntdata"/><Relationship Id="rId12" Type="http://schemas.openxmlformats.org/officeDocument/2006/relationships/slide" Target="slides/slide6.xml"/><Relationship Id="rId34" Type="http://schemas.openxmlformats.org/officeDocument/2006/relationships/font" Target="fonts/Lato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f87997393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f87997393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f87997393_0_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f87997393_0_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f87997393_0_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f87997393_0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f87997393_0_10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f87997393_0_10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f87997393_0_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f87997393_0_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918d386437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918d386437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918d386437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918d386437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918d386437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918d386437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918d386437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918d386437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1f87997393_0_8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1f87997393_0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918d386437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918d386437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918d386437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918d386437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918d386437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918d386437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918d386437_1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918d386437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918d386437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918d386437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918d386437_1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918d386437_1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918d386437_1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918d386437_1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ffset_comp_406605.jpg" id="10" name="Google Shape;10;p2"/>
          <p:cNvPicPr preferRelativeResize="0"/>
          <p:nvPr/>
        </p:nvPicPr>
        <p:blipFill rotWithShape="1">
          <a:blip r:embed="rId2">
            <a:alphaModFix amt="66000"/>
          </a:blip>
          <a:srcRect b="39565" l="20991" r="40112" t="2690"/>
          <a:stretch/>
        </p:blipFill>
        <p:spPr>
          <a:xfrm>
            <a:off x="0" y="0"/>
            <a:ext cx="5157900" cy="5143500"/>
          </a:xfrm>
          <a:prstGeom prst="rtTriangle">
            <a:avLst/>
          </a:prstGeom>
          <a:noFill/>
          <a:ln>
            <a:noFill/>
          </a:ln>
        </p:spPr>
      </p:pic>
      <p:pic>
        <p:nvPicPr>
          <p:cNvPr descr="offset_comp_342327_edtied.jpg" id="11" name="Google Shape;11;p2"/>
          <p:cNvPicPr preferRelativeResize="0"/>
          <p:nvPr/>
        </p:nvPicPr>
        <p:blipFill rotWithShape="1">
          <a:blip r:embed="rId3">
            <a:alphaModFix amt="31000"/>
          </a:blip>
          <a:srcRect b="11297" l="14009" r="43289" t="35833"/>
          <a:stretch/>
        </p:blipFill>
        <p:spPr>
          <a:xfrm rot="10800000">
            <a:off x="6976800" y="-25"/>
            <a:ext cx="2167200" cy="2012700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 rot="-5400000">
            <a:off x="5846" y="-4836"/>
            <a:ext cx="2291400" cy="2300100"/>
          </a:xfrm>
          <a:prstGeom prst="diagStrip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 flipH="1">
            <a:off x="652821" y="576768"/>
            <a:ext cx="2300100" cy="2291400"/>
          </a:xfrm>
          <a:prstGeom prst="diagStrip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9" name="Google Shape;19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" name="Google Shape;37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" name="Google Shape;39;p3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">
  <p:cSld name="SECTION_HEADER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45" name="Google Shape;45;p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4" name="Google Shape;64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71" name="Google Shape;71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1">
  <p:cSld name="TITLE_AND_BODY_2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361071" y="1924852"/>
            <a:ext cx="23049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8" name="Google Shape;78;p6"/>
          <p:cNvSpPr/>
          <p:nvPr/>
        </p:nvSpPr>
        <p:spPr>
          <a:xfrm>
            <a:off x="4564200" y="0"/>
            <a:ext cx="45798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 txBox="1"/>
          <p:nvPr>
            <p:ph idx="1" type="body"/>
          </p:nvPr>
        </p:nvSpPr>
        <p:spPr>
          <a:xfrm>
            <a:off x="6451271" y="1924850"/>
            <a:ext cx="23049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6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85" name="Google Shape;85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" name="Google Shape;87;p6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8" name="Google Shape;8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2">
  <p:cSld name="TITLE_AND_BODY_2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 txBox="1"/>
          <p:nvPr>
            <p:ph type="title"/>
          </p:nvPr>
        </p:nvSpPr>
        <p:spPr>
          <a:xfrm>
            <a:off x="702850" y="1708619"/>
            <a:ext cx="3333300" cy="14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" name="Google Shape;91;p7"/>
          <p:cNvSpPr/>
          <p:nvPr/>
        </p:nvSpPr>
        <p:spPr>
          <a:xfrm>
            <a:off x="0" y="3486600"/>
            <a:ext cx="9144000" cy="165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" name="Google Shape;96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7" name="Google Shape;97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7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0" name="Google Shape;10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7"/>
          <p:cNvSpPr txBox="1"/>
          <p:nvPr>
            <p:ph idx="1" type="body"/>
          </p:nvPr>
        </p:nvSpPr>
        <p:spPr>
          <a:xfrm>
            <a:off x="702850" y="3625275"/>
            <a:ext cx="3333300" cy="7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" name="Google Shape;107;p8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8" name="Google Shape;108;p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1" name="Google Shape;111;p8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2" name="Google Shape;112;p8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3" name="Google Shape;11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20" name="Google Shape;120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3" name="Google Shape;12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" name="Google Shape;129;p10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30" name="Google Shape;130;p1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10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3" name="Google Shape;133;p10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1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1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11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141" name="Google Shape;141;p11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1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1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1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1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" name="Google Shape;159;p11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" name="Google Shape;16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2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2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2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" name="Google Shape;166;p12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67" name="Google Shape;167;p12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2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12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0" name="Google Shape;170;p12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71" name="Google Shape;171;p12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2" name="Google Shape;17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3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75" name="Google Shape;175;p13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3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" name="Google Shape;177;p13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78" name="Google Shape;17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9" name="Google Shape;179;p13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3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3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85" name="Google Shape;185;p1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" name="Google Shape;203;p14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04" name="Google Shape;204;p14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5" name="Google Shape;20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6" name="Google Shape;206;p14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4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4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4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3">
  <p:cSld name="TITLE_AND_BODY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ffset_comp_343059.jpg" id="213" name="Google Shape;213;p16"/>
          <p:cNvPicPr preferRelativeResize="0"/>
          <p:nvPr/>
        </p:nvPicPr>
        <p:blipFill rotWithShape="1">
          <a:blip r:embed="rId2">
            <a:alphaModFix amt="80000"/>
          </a:blip>
          <a:srcRect b="25870" l="30474" r="30474" t="11955"/>
          <a:stretch/>
        </p:blipFill>
        <p:spPr>
          <a:xfrm rot="-5400000">
            <a:off x="113630" y="-105700"/>
            <a:ext cx="5142300" cy="5364300"/>
          </a:xfrm>
          <a:prstGeom prst="diagStripe">
            <a:avLst>
              <a:gd fmla="val 50343" name="adj"/>
            </a:avLst>
          </a:prstGeom>
          <a:noFill/>
          <a:ln>
            <a:noFill/>
          </a:ln>
        </p:spPr>
      </p:pic>
      <p:sp>
        <p:nvSpPr>
          <p:cNvPr id="214" name="Google Shape;21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5" name="Google Shape;215;p16"/>
          <p:cNvSpPr txBox="1"/>
          <p:nvPr>
            <p:ph idx="1" type="body"/>
          </p:nvPr>
        </p:nvSpPr>
        <p:spPr>
          <a:xfrm>
            <a:off x="4018025" y="1567550"/>
            <a:ext cx="4318500" cy="17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  <a:defRPr>
                <a:solidFill>
                  <a:schemeClr val="dk2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6" name="Google Shape;21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7" name="Google Shape;217;p16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6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6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1" name="Google Shape;221;p1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222" name="Google Shape;222;p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Relationship Id="rId7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/>
          <p:nvPr>
            <p:ph type="ctrTitle"/>
          </p:nvPr>
        </p:nvSpPr>
        <p:spPr>
          <a:xfrm>
            <a:off x="3194250" y="1077050"/>
            <a:ext cx="56964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Performance Evaluation on RISC-V Architecture</a:t>
            </a:r>
            <a:endParaRPr/>
          </a:p>
        </p:txBody>
      </p:sp>
      <p:sp>
        <p:nvSpPr>
          <p:cNvPr id="229" name="Google Shape;229;p17"/>
          <p:cNvSpPr txBox="1"/>
          <p:nvPr>
            <p:ph idx="1" type="subTitle"/>
          </p:nvPr>
        </p:nvSpPr>
        <p:spPr>
          <a:xfrm>
            <a:off x="5083950" y="3157300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 Poly Pomona - Electrical and Computer Engineering Department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ECE 4300 - Professor M. Aly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Carson Quesada, Derek Jacoby, Demajay Francis, Cole Pedersen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Overview</a:t>
            </a:r>
            <a:endParaRPr/>
          </a:p>
        </p:txBody>
      </p:sp>
      <p:sp>
        <p:nvSpPr>
          <p:cNvPr id="235" name="Google Shape;235;p18"/>
          <p:cNvSpPr txBox="1"/>
          <p:nvPr>
            <p:ph idx="1" type="body"/>
          </p:nvPr>
        </p:nvSpPr>
        <p:spPr>
          <a:xfrm>
            <a:off x="1297500" y="13078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</a:t>
            </a:r>
            <a:r>
              <a:rPr lang="en-GB"/>
              <a:t>his project evaluates the performance characteristics of two RISC-V softcore processors---PicoRV32 and VexRiscv---implemented on a Digilent Nexys A7 FPGA.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The goal is to quantify how microarchitectural differences such as pipeline depth, execution model, and hardware multiplier/divider support affect throughput, latency, and efficiency.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Each core executes an identical firmware benchmark suite designed to measure cycle count, retired instructions, CPI, and execution time across a variety of instruction classes.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By comparing cycle-accurate results from both cores, we establish a quantitative foundation for selecting an appropriate softcore for embedded applications.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Research Questions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1297500" y="1307844"/>
            <a:ext cx="7329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242" name="Google Shape;242;p19"/>
          <p:cNvSpPr txBox="1"/>
          <p:nvPr>
            <p:ph idx="1" type="body"/>
          </p:nvPr>
        </p:nvSpPr>
        <p:spPr>
          <a:xfrm>
            <a:off x="2030400" y="1307875"/>
            <a:ext cx="5877300" cy="8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>
                <a:solidFill>
                  <a:srgbClr val="FFFFFF"/>
                </a:solidFill>
              </a:rPr>
              <a:t>How do PicoRV32 and VexRiscv differ in raw instruction throughput across arithmetic, memory, and branch operations?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1297500" y="2222681"/>
            <a:ext cx="7329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244" name="Google Shape;244;p19"/>
          <p:cNvSpPr txBox="1"/>
          <p:nvPr>
            <p:ph idx="1" type="body"/>
          </p:nvPr>
        </p:nvSpPr>
        <p:spPr>
          <a:xfrm>
            <a:off x="2030400" y="2222713"/>
            <a:ext cx="5877300" cy="8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>
                <a:solidFill>
                  <a:srgbClr val="FFFFFF"/>
                </a:solidFill>
              </a:rPr>
              <a:t>What are the latency implications of multiplication and division on each microarchitecture?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1297500" y="3137544"/>
            <a:ext cx="7329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246" name="Google Shape;246;p19"/>
          <p:cNvSpPr txBox="1"/>
          <p:nvPr>
            <p:ph idx="1" type="body"/>
          </p:nvPr>
        </p:nvSpPr>
        <p:spPr>
          <a:xfrm>
            <a:off x="2030400" y="3137563"/>
            <a:ext cx="5877300" cy="8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>
                <a:solidFill>
                  <a:srgbClr val="FFFFFF"/>
                </a:solidFill>
              </a:rPr>
              <a:t>How does pipeline depth affect branch performance in always-taken, never-taken, and mixed branch behavior?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47" name="Google Shape;247;p19"/>
          <p:cNvSpPr txBox="1"/>
          <p:nvPr/>
        </p:nvSpPr>
        <p:spPr>
          <a:xfrm>
            <a:off x="1297500" y="4167069"/>
            <a:ext cx="7329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248" name="Google Shape;248;p19"/>
          <p:cNvSpPr txBox="1"/>
          <p:nvPr>
            <p:ph idx="1" type="body"/>
          </p:nvPr>
        </p:nvSpPr>
        <p:spPr>
          <a:xfrm>
            <a:off x="2030400" y="4167088"/>
            <a:ext cx="5877300" cy="8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>
                <a:solidFill>
                  <a:srgbClr val="FFFFFF"/>
                </a:solidFill>
              </a:rPr>
              <a:t>What overall performance trade-offs appear when selecting between a simple 1-stage core (PicoRV32) and a deeper 5-stage pipeline (VexRiscv)?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Approach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3645323" y="3240115"/>
            <a:ext cx="13263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400" lIns="65400" spcFirstLastPara="1" rIns="65400" wrap="square" tIns="6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4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Total Cycles</a:t>
            </a:r>
            <a:endParaRPr sz="1001"/>
          </a:p>
        </p:txBody>
      </p:sp>
      <p:sp>
        <p:nvSpPr>
          <p:cNvPr id="255" name="Google Shape;255;p20"/>
          <p:cNvSpPr txBox="1"/>
          <p:nvPr/>
        </p:nvSpPr>
        <p:spPr>
          <a:xfrm>
            <a:off x="3678748" y="4167204"/>
            <a:ext cx="13263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400" lIns="65400" spcFirstLastPara="1" rIns="65400" wrap="square" tIns="6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4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Cycles Per Instruction (CPI)</a:t>
            </a:r>
            <a:endParaRPr sz="1001"/>
          </a:p>
        </p:txBody>
      </p:sp>
      <p:sp>
        <p:nvSpPr>
          <p:cNvPr id="256" name="Google Shape;256;p20"/>
          <p:cNvSpPr txBox="1"/>
          <p:nvPr/>
        </p:nvSpPr>
        <p:spPr>
          <a:xfrm>
            <a:off x="7620597" y="3266190"/>
            <a:ext cx="13263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400" lIns="65400" spcFirstLastPara="1" rIns="65400" wrap="square" tIns="6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4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Retired Instructions</a:t>
            </a:r>
            <a:endParaRPr sz="1001"/>
          </a:p>
        </p:txBody>
      </p:sp>
      <p:sp>
        <p:nvSpPr>
          <p:cNvPr id="257" name="Google Shape;257;p20"/>
          <p:cNvSpPr txBox="1"/>
          <p:nvPr/>
        </p:nvSpPr>
        <p:spPr>
          <a:xfrm>
            <a:off x="7620597" y="4139504"/>
            <a:ext cx="13263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400" lIns="65400" spcFirstLastPara="1" rIns="65400" wrap="square" tIns="6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4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Execution Time (ns and ms)</a:t>
            </a:r>
            <a:endParaRPr sz="1001"/>
          </a:p>
        </p:txBody>
      </p:sp>
      <p:cxnSp>
        <p:nvCxnSpPr>
          <p:cNvPr id="258" name="Google Shape;258;p20"/>
          <p:cNvCxnSpPr/>
          <p:nvPr/>
        </p:nvCxnSpPr>
        <p:spPr>
          <a:xfrm flipH="1">
            <a:off x="780745" y="1985675"/>
            <a:ext cx="7596300" cy="105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20"/>
          <p:cNvCxnSpPr/>
          <p:nvPr/>
        </p:nvCxnSpPr>
        <p:spPr>
          <a:xfrm flipH="1">
            <a:off x="3494564" y="3942045"/>
            <a:ext cx="1627800" cy="7500"/>
          </a:xfrm>
          <a:prstGeom prst="straightConnector1">
            <a:avLst/>
          </a:prstGeom>
          <a:noFill/>
          <a:ln cap="flat" cmpd="sng" w="68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20"/>
          <p:cNvCxnSpPr/>
          <p:nvPr/>
        </p:nvCxnSpPr>
        <p:spPr>
          <a:xfrm flipH="1">
            <a:off x="7300814" y="3942045"/>
            <a:ext cx="1627800" cy="7500"/>
          </a:xfrm>
          <a:prstGeom prst="straightConnector1">
            <a:avLst/>
          </a:prstGeom>
          <a:noFill/>
          <a:ln cap="flat" cmpd="sng" w="68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20"/>
          <p:cNvCxnSpPr/>
          <p:nvPr/>
        </p:nvCxnSpPr>
        <p:spPr>
          <a:xfrm flipH="1">
            <a:off x="3494416" y="4951476"/>
            <a:ext cx="5434200" cy="7500"/>
          </a:xfrm>
          <a:prstGeom prst="straightConnector1">
            <a:avLst/>
          </a:prstGeom>
          <a:noFill/>
          <a:ln cap="flat" cmpd="sng" w="68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2" name="Google Shape;262;p20"/>
          <p:cNvSpPr/>
          <p:nvPr/>
        </p:nvSpPr>
        <p:spPr>
          <a:xfrm>
            <a:off x="5204796" y="2952473"/>
            <a:ext cx="1993800" cy="1993800"/>
          </a:xfrm>
          <a:prstGeom prst="pie">
            <a:avLst>
              <a:gd fmla="val 10795717" name="adj1"/>
              <a:gd fmla="val 16201261" name="adj2"/>
            </a:avLst>
          </a:prstGeom>
          <a:solidFill>
            <a:srgbClr val="9BC5E9"/>
          </a:solidFill>
          <a:ln>
            <a:noFill/>
          </a:ln>
        </p:spPr>
        <p:txBody>
          <a:bodyPr anchorCtr="0" anchor="ctr" bIns="65400" lIns="65400" spcFirstLastPara="1" rIns="65400" wrap="square" tIns="6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1"/>
          </a:p>
        </p:txBody>
      </p:sp>
      <p:sp>
        <p:nvSpPr>
          <p:cNvPr id="263" name="Google Shape;263;p20"/>
          <p:cNvSpPr/>
          <p:nvPr/>
        </p:nvSpPr>
        <p:spPr>
          <a:xfrm rot="5400000">
            <a:off x="5204928" y="2952473"/>
            <a:ext cx="1993800" cy="1993800"/>
          </a:xfrm>
          <a:prstGeom prst="pie">
            <a:avLst>
              <a:gd fmla="val 10795717" name="adj1"/>
              <a:gd fmla="val 16201261" name="adj2"/>
            </a:avLst>
          </a:prstGeom>
          <a:solidFill>
            <a:srgbClr val="0D47A1"/>
          </a:solidFill>
          <a:ln>
            <a:noFill/>
          </a:ln>
        </p:spPr>
        <p:txBody>
          <a:bodyPr anchorCtr="0" anchor="ctr" bIns="65400" lIns="65400" spcFirstLastPara="1" rIns="65400" wrap="square" tIns="6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1"/>
          </a:p>
        </p:txBody>
      </p:sp>
      <p:sp>
        <p:nvSpPr>
          <p:cNvPr id="264" name="Google Shape;264;p20"/>
          <p:cNvSpPr/>
          <p:nvPr/>
        </p:nvSpPr>
        <p:spPr>
          <a:xfrm rot="10800000">
            <a:off x="5204928" y="2952592"/>
            <a:ext cx="1993800" cy="1993800"/>
          </a:xfrm>
          <a:prstGeom prst="pie">
            <a:avLst>
              <a:gd fmla="val 10795717" name="adj1"/>
              <a:gd fmla="val 16201261" name="adj2"/>
            </a:avLst>
          </a:prstGeom>
          <a:solidFill>
            <a:srgbClr val="1976D2"/>
          </a:solidFill>
          <a:ln>
            <a:noFill/>
          </a:ln>
        </p:spPr>
        <p:txBody>
          <a:bodyPr anchorCtr="0" anchor="ctr" bIns="65400" lIns="65400" spcFirstLastPara="1" rIns="65400" wrap="square" tIns="6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1"/>
          </a:p>
        </p:txBody>
      </p:sp>
      <p:sp>
        <p:nvSpPr>
          <p:cNvPr id="265" name="Google Shape;265;p20"/>
          <p:cNvSpPr/>
          <p:nvPr/>
        </p:nvSpPr>
        <p:spPr>
          <a:xfrm rot="-5400000">
            <a:off x="5204796" y="2952592"/>
            <a:ext cx="1993800" cy="1993800"/>
          </a:xfrm>
          <a:prstGeom prst="pie">
            <a:avLst>
              <a:gd fmla="val 10795717" name="adj1"/>
              <a:gd fmla="val 16201261" name="adj2"/>
            </a:avLst>
          </a:prstGeom>
          <a:solidFill>
            <a:srgbClr val="2196F3"/>
          </a:solidFill>
          <a:ln>
            <a:noFill/>
          </a:ln>
        </p:spPr>
        <p:txBody>
          <a:bodyPr anchorCtr="0" anchor="ctr" bIns="65400" lIns="65400" spcFirstLastPara="1" rIns="65400" wrap="square" tIns="6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1"/>
          </a:p>
        </p:txBody>
      </p:sp>
      <p:grpSp>
        <p:nvGrpSpPr>
          <p:cNvPr id="266" name="Google Shape;266;p20"/>
          <p:cNvGrpSpPr/>
          <p:nvPr/>
        </p:nvGrpSpPr>
        <p:grpSpPr>
          <a:xfrm>
            <a:off x="5138331" y="3696498"/>
            <a:ext cx="527742" cy="527742"/>
            <a:chOff x="2920647" y="2157958"/>
            <a:chExt cx="827700" cy="827700"/>
          </a:xfrm>
        </p:grpSpPr>
        <p:sp>
          <p:nvSpPr>
            <p:cNvPr id="267" name="Google Shape;267;p20"/>
            <p:cNvSpPr/>
            <p:nvPr/>
          </p:nvSpPr>
          <p:spPr>
            <a:xfrm rot="2368348">
              <a:off x="3040494" y="2277805"/>
              <a:ext cx="588007" cy="588007"/>
            </a:xfrm>
            <a:prstGeom prst="pie">
              <a:avLst>
                <a:gd fmla="val 18953478" name="adj1"/>
                <a:gd fmla="val 8381030" name="adj2"/>
              </a:avLst>
            </a:prstGeom>
            <a:solidFill>
              <a:srgbClr val="9BC5E9"/>
            </a:solidFill>
            <a:ln>
              <a:noFill/>
            </a:ln>
            <a:effectLst>
              <a:outerShdw blurRad="163532" rotWithShape="0" algn="tl" dir="5400000" dist="36341">
                <a:srgbClr val="000000">
                  <a:alpha val="54900"/>
                </a:srgbClr>
              </a:outerShdw>
            </a:effectLst>
          </p:spPr>
          <p:txBody>
            <a:bodyPr anchorCtr="0" anchor="ctr" bIns="65400" lIns="65400" spcFirstLastPara="1" rIns="65400" wrap="square" tIns="6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0"/>
            <p:cNvSpPr/>
            <p:nvPr/>
          </p:nvSpPr>
          <p:spPr>
            <a:xfrm rot="248723">
              <a:off x="3023158" y="2234335"/>
              <a:ext cx="655715" cy="655993"/>
            </a:xfrm>
            <a:prstGeom prst="chord">
              <a:avLst>
                <a:gd fmla="val 2500565" name="adj1"/>
                <a:gd fmla="val 1811979" name="adj2"/>
              </a:avLst>
            </a:prstGeom>
            <a:solidFill>
              <a:srgbClr val="9BC5E9"/>
            </a:solidFill>
            <a:ln>
              <a:noFill/>
            </a:ln>
          </p:spPr>
          <p:txBody>
            <a:bodyPr anchorCtr="0" anchor="ctr" bIns="65400" lIns="65400" spcFirstLastPara="1" rIns="65400" wrap="square" tIns="6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1"/>
            </a:p>
          </p:txBody>
        </p:sp>
      </p:grpSp>
      <p:sp>
        <p:nvSpPr>
          <p:cNvPr id="269" name="Google Shape;269;p20"/>
          <p:cNvSpPr txBox="1"/>
          <p:nvPr/>
        </p:nvSpPr>
        <p:spPr>
          <a:xfrm>
            <a:off x="5224555" y="3826699"/>
            <a:ext cx="363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400" lIns="65400" spcFirstLastPara="1" rIns="65400" wrap="square" tIns="65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4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1" sz="1144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70" name="Google Shape;270;p20"/>
          <p:cNvGrpSpPr/>
          <p:nvPr/>
        </p:nvGrpSpPr>
        <p:grpSpPr>
          <a:xfrm rot="-5400000">
            <a:off x="5958611" y="4484893"/>
            <a:ext cx="527742" cy="527742"/>
            <a:chOff x="2920647" y="2157958"/>
            <a:chExt cx="827700" cy="827700"/>
          </a:xfrm>
        </p:grpSpPr>
        <p:sp>
          <p:nvSpPr>
            <p:cNvPr id="271" name="Google Shape;271;p20"/>
            <p:cNvSpPr/>
            <p:nvPr/>
          </p:nvSpPr>
          <p:spPr>
            <a:xfrm rot="2368348">
              <a:off x="3040494" y="2277805"/>
              <a:ext cx="588007" cy="588007"/>
            </a:xfrm>
            <a:prstGeom prst="pie">
              <a:avLst>
                <a:gd fmla="val 18953478" name="adj1"/>
                <a:gd fmla="val 8381030" name="adj2"/>
              </a:avLst>
            </a:prstGeom>
            <a:solidFill>
              <a:srgbClr val="2196F3"/>
            </a:solidFill>
            <a:ln>
              <a:noFill/>
            </a:ln>
            <a:effectLst>
              <a:outerShdw blurRad="163532" rotWithShape="0" algn="tl" dir="5400000" dist="36341">
                <a:srgbClr val="000000">
                  <a:alpha val="54900"/>
                </a:srgbClr>
              </a:outerShdw>
            </a:effectLst>
          </p:spPr>
          <p:txBody>
            <a:bodyPr anchorCtr="0" anchor="ctr" bIns="65400" lIns="65400" spcFirstLastPara="1" rIns="65400" wrap="square" tIns="6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0"/>
            <p:cNvSpPr/>
            <p:nvPr/>
          </p:nvSpPr>
          <p:spPr>
            <a:xfrm rot="248723">
              <a:off x="3023158" y="2234335"/>
              <a:ext cx="655715" cy="655993"/>
            </a:xfrm>
            <a:prstGeom prst="chord">
              <a:avLst>
                <a:gd fmla="val 2500565" name="adj1"/>
                <a:gd fmla="val 1811979" name="adj2"/>
              </a:avLst>
            </a:prstGeom>
            <a:solidFill>
              <a:srgbClr val="2196F3"/>
            </a:solidFill>
            <a:ln>
              <a:noFill/>
            </a:ln>
          </p:spPr>
          <p:txBody>
            <a:bodyPr anchorCtr="0" anchor="ctr" bIns="65400" lIns="65400" spcFirstLastPara="1" rIns="65400" wrap="square" tIns="6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1"/>
            </a:p>
          </p:txBody>
        </p:sp>
      </p:grpSp>
      <p:sp>
        <p:nvSpPr>
          <p:cNvPr id="273" name="Google Shape;273;p20"/>
          <p:cNvSpPr txBox="1"/>
          <p:nvPr/>
        </p:nvSpPr>
        <p:spPr>
          <a:xfrm>
            <a:off x="6026651" y="4605078"/>
            <a:ext cx="363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400" lIns="65400" spcFirstLastPara="1" rIns="65400" wrap="square" tIns="65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4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1" sz="1144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74" name="Google Shape;274;p20"/>
          <p:cNvGrpSpPr/>
          <p:nvPr/>
        </p:nvGrpSpPr>
        <p:grpSpPr>
          <a:xfrm>
            <a:off x="6736509" y="3696263"/>
            <a:ext cx="527761" cy="527761"/>
            <a:chOff x="5428888" y="2158023"/>
            <a:chExt cx="828900" cy="828900"/>
          </a:xfrm>
        </p:grpSpPr>
        <p:sp>
          <p:nvSpPr>
            <p:cNvPr id="275" name="Google Shape;275;p20"/>
            <p:cNvSpPr/>
            <p:nvPr/>
          </p:nvSpPr>
          <p:spPr>
            <a:xfrm rot="-8431175">
              <a:off x="5548912" y="2278047"/>
              <a:ext cx="588851" cy="588851"/>
            </a:xfrm>
            <a:prstGeom prst="pie">
              <a:avLst>
                <a:gd fmla="val 19686997" name="adj1"/>
                <a:gd fmla="val 7771013" name="adj2"/>
              </a:avLst>
            </a:prstGeom>
            <a:solidFill>
              <a:srgbClr val="1976D2"/>
            </a:solidFill>
            <a:ln>
              <a:noFill/>
            </a:ln>
            <a:effectLst>
              <a:outerShdw blurRad="163532" rotWithShape="0" algn="tl" dir="5400000" dist="36341">
                <a:srgbClr val="000000">
                  <a:alpha val="54900"/>
                </a:srgbClr>
              </a:outerShdw>
            </a:effectLst>
          </p:spPr>
          <p:txBody>
            <a:bodyPr anchorCtr="0" anchor="ctr" bIns="65400" lIns="65400" spcFirstLastPara="1" rIns="65400" wrap="square" tIns="6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1"/>
            </a:p>
          </p:txBody>
        </p:sp>
        <p:sp>
          <p:nvSpPr>
            <p:cNvPr id="276" name="Google Shape;276;p20"/>
            <p:cNvSpPr/>
            <p:nvPr/>
          </p:nvSpPr>
          <p:spPr>
            <a:xfrm rot="-10551618">
              <a:off x="5498383" y="2253584"/>
              <a:ext cx="656613" cy="656891"/>
            </a:xfrm>
            <a:prstGeom prst="chord">
              <a:avLst>
                <a:gd fmla="val 2500565" name="adj1"/>
                <a:gd fmla="val 1811979" name="adj2"/>
              </a:avLst>
            </a:prstGeom>
            <a:solidFill>
              <a:srgbClr val="1976D2"/>
            </a:solidFill>
            <a:ln>
              <a:noFill/>
            </a:ln>
          </p:spPr>
          <p:txBody>
            <a:bodyPr anchorCtr="0" anchor="ctr" bIns="65400" lIns="65400" spcFirstLastPara="1" rIns="65400" wrap="square" tIns="6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1"/>
            </a:p>
          </p:txBody>
        </p:sp>
      </p:grpSp>
      <p:sp>
        <p:nvSpPr>
          <p:cNvPr id="277" name="Google Shape;277;p20"/>
          <p:cNvSpPr txBox="1"/>
          <p:nvPr/>
        </p:nvSpPr>
        <p:spPr>
          <a:xfrm>
            <a:off x="6801859" y="3826699"/>
            <a:ext cx="363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400" lIns="65400" spcFirstLastPara="1" rIns="65400" wrap="square" tIns="65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4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1" sz="1144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78" name="Google Shape;278;p20"/>
          <p:cNvGrpSpPr/>
          <p:nvPr/>
        </p:nvGrpSpPr>
        <p:grpSpPr>
          <a:xfrm rot="5400000">
            <a:off x="5935774" y="2887345"/>
            <a:ext cx="527742" cy="527742"/>
            <a:chOff x="2920647" y="2157958"/>
            <a:chExt cx="827700" cy="827700"/>
          </a:xfrm>
        </p:grpSpPr>
        <p:sp>
          <p:nvSpPr>
            <p:cNvPr id="279" name="Google Shape;279;p20"/>
            <p:cNvSpPr/>
            <p:nvPr/>
          </p:nvSpPr>
          <p:spPr>
            <a:xfrm rot="2368348">
              <a:off x="3040494" y="2277805"/>
              <a:ext cx="588007" cy="588007"/>
            </a:xfrm>
            <a:prstGeom prst="pie">
              <a:avLst>
                <a:gd fmla="val 18953478" name="adj1"/>
                <a:gd fmla="val 8381030" name="adj2"/>
              </a:avLst>
            </a:prstGeom>
            <a:solidFill>
              <a:srgbClr val="0D47A1"/>
            </a:solidFill>
            <a:ln>
              <a:noFill/>
            </a:ln>
            <a:effectLst>
              <a:outerShdw blurRad="163532" rotWithShape="0" algn="tl" dir="5400000" dist="36341">
                <a:srgbClr val="000000">
                  <a:alpha val="54900"/>
                </a:srgbClr>
              </a:outerShdw>
            </a:effectLst>
          </p:spPr>
          <p:txBody>
            <a:bodyPr anchorCtr="0" anchor="ctr" bIns="65400" lIns="65400" spcFirstLastPara="1" rIns="65400" wrap="square" tIns="6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0"/>
            <p:cNvSpPr/>
            <p:nvPr/>
          </p:nvSpPr>
          <p:spPr>
            <a:xfrm rot="248723">
              <a:off x="3023158" y="2234335"/>
              <a:ext cx="655715" cy="655993"/>
            </a:xfrm>
            <a:prstGeom prst="chord">
              <a:avLst>
                <a:gd fmla="val 2500565" name="adj1"/>
                <a:gd fmla="val 1811979" name="adj2"/>
              </a:avLst>
            </a:prstGeom>
            <a:solidFill>
              <a:srgbClr val="0D47A1"/>
            </a:solidFill>
            <a:ln>
              <a:noFill/>
            </a:ln>
          </p:spPr>
          <p:txBody>
            <a:bodyPr anchorCtr="0" anchor="ctr" bIns="65400" lIns="65400" spcFirstLastPara="1" rIns="65400" wrap="square" tIns="6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1"/>
            </a:p>
          </p:txBody>
        </p:sp>
      </p:grpSp>
      <p:sp>
        <p:nvSpPr>
          <p:cNvPr id="281" name="Google Shape;281;p20"/>
          <p:cNvSpPr txBox="1"/>
          <p:nvPr/>
        </p:nvSpPr>
        <p:spPr>
          <a:xfrm>
            <a:off x="4320431" y="3000093"/>
            <a:ext cx="5079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5621241" y="3368907"/>
            <a:ext cx="1161000" cy="1161000"/>
          </a:xfrm>
          <a:prstGeom prst="ellipse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65400" lIns="65400" spcFirstLastPara="1" rIns="65400" wrap="square" tIns="6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1"/>
          </a:p>
        </p:txBody>
      </p:sp>
      <p:sp>
        <p:nvSpPr>
          <p:cNvPr id="283" name="Google Shape;283;p20"/>
          <p:cNvSpPr txBox="1"/>
          <p:nvPr/>
        </p:nvSpPr>
        <p:spPr>
          <a:xfrm>
            <a:off x="1235000" y="1110100"/>
            <a:ext cx="68277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Each RISC-V core was synthesized into an individual Vivado project targeting the Nexys A7, utilizing the a specific instruction pattern for a fixed number of iterations.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188250" y="2588000"/>
            <a:ext cx="3146700" cy="27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Execution time was computed assuming a 100 MHz system clock.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benchmark suite measured: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• Integer ALU throughput (addition)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• Load/store throughput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• Multiplication and division latency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• Branch performance (always-taken, never-taken, and 50/50)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• Shift throughput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3564675" y="2464400"/>
            <a:ext cx="48123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Each metric was evaluated using: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5958605" y="3032486"/>
            <a:ext cx="363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400" lIns="65400" spcFirstLastPara="1" rIns="65400" wrap="square" tIns="65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4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b="1" sz="1144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Main.c Code</a:t>
            </a:r>
            <a:endParaRPr/>
          </a:p>
        </p:txBody>
      </p:sp>
      <p:pic>
        <p:nvPicPr>
          <p:cNvPr id="292" name="Google Shape;292;p21"/>
          <p:cNvPicPr preferRelativeResize="0"/>
          <p:nvPr/>
        </p:nvPicPr>
        <p:blipFill rotWithShape="1">
          <a:blip r:embed="rId3">
            <a:alphaModFix/>
          </a:blip>
          <a:srcRect b="0" l="0" r="0" t="13314"/>
          <a:stretch/>
        </p:blipFill>
        <p:spPr>
          <a:xfrm>
            <a:off x="1350500" y="1018875"/>
            <a:ext cx="3495150" cy="39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1"/>
          <p:cNvSpPr txBox="1"/>
          <p:nvPr/>
        </p:nvSpPr>
        <p:spPr>
          <a:xfrm>
            <a:off x="5087375" y="1201325"/>
            <a:ext cx="3396300" cy="25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Main program: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1. Waits for user to press Continue to run performance benchmarks,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or Skip to jump to power test.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Runs all benchmark tests and prints results via UART.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3. Optionally runs long power test.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Benchmark Tests 3 &amp; 4</a:t>
            </a:r>
            <a:endParaRPr/>
          </a:p>
        </p:txBody>
      </p:sp>
      <p:pic>
        <p:nvPicPr>
          <p:cNvPr id="299" name="Google Shape;2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350" y="1179575"/>
            <a:ext cx="4112734" cy="353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0684" y="1228700"/>
            <a:ext cx="4376664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3"/>
          <p:cNvSpPr txBox="1"/>
          <p:nvPr>
            <p:ph type="title"/>
          </p:nvPr>
        </p:nvSpPr>
        <p:spPr>
          <a:xfrm>
            <a:off x="1332600" y="3446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Benchmark Tests 5 &amp; 6A</a:t>
            </a:r>
            <a:endParaRPr/>
          </a:p>
        </p:txBody>
      </p:sp>
      <p:pic>
        <p:nvPicPr>
          <p:cNvPr id="306" name="Google Shape;30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650" y="1204138"/>
            <a:ext cx="3794674" cy="3579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1199" y="1204150"/>
            <a:ext cx="4159089" cy="357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4"/>
          <p:cNvSpPr txBox="1"/>
          <p:nvPr>
            <p:ph type="title"/>
          </p:nvPr>
        </p:nvSpPr>
        <p:spPr>
          <a:xfrm>
            <a:off x="1332600" y="3446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Benchmark Tests 6B and 6C</a:t>
            </a:r>
            <a:endParaRPr/>
          </a:p>
        </p:txBody>
      </p:sp>
      <p:pic>
        <p:nvPicPr>
          <p:cNvPr id="313" name="Google Shape;31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600" y="940950"/>
            <a:ext cx="3930050" cy="2842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6375" y="940950"/>
            <a:ext cx="3620649" cy="284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5"/>
          <p:cNvSpPr txBox="1"/>
          <p:nvPr>
            <p:ph type="title"/>
          </p:nvPr>
        </p:nvSpPr>
        <p:spPr>
          <a:xfrm>
            <a:off x="1332600" y="3446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Benchmark Tests 7 and Power Test</a:t>
            </a:r>
            <a:endParaRPr/>
          </a:p>
        </p:txBody>
      </p:sp>
      <p:pic>
        <p:nvPicPr>
          <p:cNvPr id="320" name="Google Shape;32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350" y="1298875"/>
            <a:ext cx="3763125" cy="29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5375" y="1363325"/>
            <a:ext cx="4553975" cy="271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6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Outputs - Pico32</a:t>
            </a:r>
            <a:endParaRPr/>
          </a:p>
        </p:txBody>
      </p:sp>
      <p:pic>
        <p:nvPicPr>
          <p:cNvPr descr="offset_comp_267026.jpg" id="327" name="Google Shape;327;p26"/>
          <p:cNvPicPr preferRelativeResize="0"/>
          <p:nvPr/>
        </p:nvPicPr>
        <p:blipFill rotWithShape="1">
          <a:blip r:embed="rId3">
            <a:alphaModFix/>
          </a:blip>
          <a:srcRect b="-6208" l="39740" r="17180" t="41470"/>
          <a:stretch/>
        </p:blipFill>
        <p:spPr>
          <a:xfrm rot="-5400000">
            <a:off x="5710147" y="2704980"/>
            <a:ext cx="2431500" cy="2436000"/>
          </a:xfrm>
          <a:prstGeom prst="diagStripe">
            <a:avLst>
              <a:gd fmla="val 50445" name="adj"/>
            </a:avLst>
          </a:prstGeom>
          <a:noFill/>
          <a:ln>
            <a:noFill/>
          </a:ln>
        </p:spPr>
      </p:pic>
      <p:pic>
        <p:nvPicPr>
          <p:cNvPr descr="offset_comp_457517_edited2.jpg" id="328" name="Google Shape;328;p26"/>
          <p:cNvPicPr preferRelativeResize="0"/>
          <p:nvPr/>
        </p:nvPicPr>
        <p:blipFill rotWithShape="1">
          <a:blip r:embed="rId4">
            <a:alphaModFix/>
          </a:blip>
          <a:srcRect b="-10133" l="28499" r="21977" t="35784"/>
          <a:stretch/>
        </p:blipFill>
        <p:spPr>
          <a:xfrm rot="-5400000">
            <a:off x="5718946" y="1338207"/>
            <a:ext cx="2504700" cy="2509500"/>
          </a:xfrm>
          <a:prstGeom prst="diagStripe">
            <a:avLst>
              <a:gd fmla="val 50445" name="adj"/>
            </a:avLst>
          </a:prstGeom>
          <a:noFill/>
          <a:ln>
            <a:noFill/>
          </a:ln>
        </p:spPr>
      </p:pic>
      <p:pic>
        <p:nvPicPr>
          <p:cNvPr descr="offset_comp_442889_edtied2.jpg" id="329" name="Google Shape;329;p26"/>
          <p:cNvPicPr preferRelativeResize="0"/>
          <p:nvPr/>
        </p:nvPicPr>
        <p:blipFill rotWithShape="1">
          <a:blip r:embed="rId5">
            <a:alphaModFix/>
          </a:blip>
          <a:srcRect b="15476" l="23925" r="30743" t="16463"/>
          <a:stretch/>
        </p:blipFill>
        <p:spPr>
          <a:xfrm rot="5400000">
            <a:off x="6637386" y="2137210"/>
            <a:ext cx="2504700" cy="2509500"/>
          </a:xfrm>
          <a:prstGeom prst="diagStripe">
            <a:avLst>
              <a:gd fmla="val 50445" name="adj"/>
            </a:avLst>
          </a:prstGeom>
          <a:noFill/>
          <a:ln>
            <a:noFill/>
          </a:ln>
        </p:spPr>
      </p:pic>
      <p:sp>
        <p:nvSpPr>
          <p:cNvPr id="330" name="Google Shape;330;p26"/>
          <p:cNvSpPr/>
          <p:nvPr/>
        </p:nvSpPr>
        <p:spPr>
          <a:xfrm>
            <a:off x="7040600" y="3923575"/>
            <a:ext cx="2106350" cy="1222450"/>
          </a:xfrm>
          <a:custGeom>
            <a:rect b="b" l="l" r="r" t="t"/>
            <a:pathLst>
              <a:path extrusionOk="0" h="48898" w="84254">
                <a:moveTo>
                  <a:pt x="0" y="0"/>
                </a:moveTo>
                <a:lnTo>
                  <a:pt x="50319" y="0"/>
                </a:lnTo>
                <a:lnTo>
                  <a:pt x="84254" y="33935"/>
                </a:lnTo>
                <a:lnTo>
                  <a:pt x="84254" y="48898"/>
                </a:lnTo>
                <a:lnTo>
                  <a:pt x="48798" y="4889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pic>
        <p:nvPicPr>
          <p:cNvPr id="331" name="Google Shape;331;p26"/>
          <p:cNvPicPr preferRelativeResize="0"/>
          <p:nvPr/>
        </p:nvPicPr>
        <p:blipFill rotWithShape="1">
          <a:blip r:embed="rId6">
            <a:alphaModFix/>
          </a:blip>
          <a:srcRect b="0" l="0" r="0" t="41037"/>
          <a:stretch/>
        </p:blipFill>
        <p:spPr>
          <a:xfrm>
            <a:off x="5447400" y="567746"/>
            <a:ext cx="3117925" cy="4208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6"/>
          <p:cNvPicPr preferRelativeResize="0"/>
          <p:nvPr/>
        </p:nvPicPr>
        <p:blipFill rotWithShape="1">
          <a:blip r:embed="rId6">
            <a:alphaModFix/>
          </a:blip>
          <a:srcRect b="58588" l="0" r="0" t="0"/>
          <a:stretch/>
        </p:blipFill>
        <p:spPr>
          <a:xfrm>
            <a:off x="1046150" y="1162475"/>
            <a:ext cx="3673215" cy="348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Outputs - VexRiscV</a:t>
            </a:r>
            <a:endParaRPr/>
          </a:p>
        </p:txBody>
      </p:sp>
      <p:pic>
        <p:nvPicPr>
          <p:cNvPr descr="offset_comp_267026.jpg" id="338" name="Google Shape;338;p27"/>
          <p:cNvPicPr preferRelativeResize="0"/>
          <p:nvPr/>
        </p:nvPicPr>
        <p:blipFill rotWithShape="1">
          <a:blip r:embed="rId3">
            <a:alphaModFix/>
          </a:blip>
          <a:srcRect b="-6208" l="39740" r="17180" t="41470"/>
          <a:stretch/>
        </p:blipFill>
        <p:spPr>
          <a:xfrm rot="-5400000">
            <a:off x="5710147" y="2704980"/>
            <a:ext cx="2431500" cy="2436000"/>
          </a:xfrm>
          <a:prstGeom prst="diagStripe">
            <a:avLst>
              <a:gd fmla="val 50445" name="adj"/>
            </a:avLst>
          </a:prstGeom>
          <a:noFill/>
          <a:ln>
            <a:noFill/>
          </a:ln>
        </p:spPr>
      </p:pic>
      <p:pic>
        <p:nvPicPr>
          <p:cNvPr descr="offset_comp_457517_edited2.jpg" id="339" name="Google Shape;339;p27"/>
          <p:cNvPicPr preferRelativeResize="0"/>
          <p:nvPr/>
        </p:nvPicPr>
        <p:blipFill rotWithShape="1">
          <a:blip r:embed="rId4">
            <a:alphaModFix/>
          </a:blip>
          <a:srcRect b="-10133" l="28499" r="21977" t="35784"/>
          <a:stretch/>
        </p:blipFill>
        <p:spPr>
          <a:xfrm rot="-5400000">
            <a:off x="5718946" y="1338207"/>
            <a:ext cx="2504700" cy="2509500"/>
          </a:xfrm>
          <a:prstGeom prst="diagStripe">
            <a:avLst>
              <a:gd fmla="val 50445" name="adj"/>
            </a:avLst>
          </a:prstGeom>
          <a:noFill/>
          <a:ln>
            <a:noFill/>
          </a:ln>
        </p:spPr>
      </p:pic>
      <p:pic>
        <p:nvPicPr>
          <p:cNvPr descr="offset_comp_442889_edtied2.jpg" id="340" name="Google Shape;340;p27"/>
          <p:cNvPicPr preferRelativeResize="0"/>
          <p:nvPr/>
        </p:nvPicPr>
        <p:blipFill rotWithShape="1">
          <a:blip r:embed="rId5">
            <a:alphaModFix/>
          </a:blip>
          <a:srcRect b="15476" l="23925" r="30743" t="16463"/>
          <a:stretch/>
        </p:blipFill>
        <p:spPr>
          <a:xfrm rot="5400000">
            <a:off x="6637386" y="2137210"/>
            <a:ext cx="2504700" cy="2509500"/>
          </a:xfrm>
          <a:prstGeom prst="diagStripe">
            <a:avLst>
              <a:gd fmla="val 50445" name="adj"/>
            </a:avLst>
          </a:prstGeom>
          <a:noFill/>
          <a:ln>
            <a:noFill/>
          </a:ln>
        </p:spPr>
      </p:pic>
      <p:sp>
        <p:nvSpPr>
          <p:cNvPr id="341" name="Google Shape;341;p27"/>
          <p:cNvSpPr/>
          <p:nvPr/>
        </p:nvSpPr>
        <p:spPr>
          <a:xfrm>
            <a:off x="7040600" y="3923575"/>
            <a:ext cx="2106350" cy="1222450"/>
          </a:xfrm>
          <a:custGeom>
            <a:rect b="b" l="l" r="r" t="t"/>
            <a:pathLst>
              <a:path extrusionOk="0" h="48898" w="84254">
                <a:moveTo>
                  <a:pt x="0" y="0"/>
                </a:moveTo>
                <a:lnTo>
                  <a:pt x="50319" y="0"/>
                </a:lnTo>
                <a:lnTo>
                  <a:pt x="84254" y="33935"/>
                </a:lnTo>
                <a:lnTo>
                  <a:pt x="84254" y="48898"/>
                </a:lnTo>
                <a:lnTo>
                  <a:pt x="48798" y="4889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pic>
        <p:nvPicPr>
          <p:cNvPr id="342" name="Google Shape;342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48800" y="972675"/>
            <a:ext cx="2509500" cy="4060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45974" y="553225"/>
            <a:ext cx="4083976" cy="4480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8"/>
          <p:cNvSpPr txBox="1"/>
          <p:nvPr>
            <p:ph type="title"/>
          </p:nvPr>
        </p:nvSpPr>
        <p:spPr>
          <a:xfrm>
            <a:off x="1297500" y="393750"/>
            <a:ext cx="58458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Findings Analysis (ALU Throughput)</a:t>
            </a:r>
            <a:endParaRPr/>
          </a:p>
        </p:txBody>
      </p:sp>
      <p:sp>
        <p:nvSpPr>
          <p:cNvPr id="349" name="Google Shape;349;p28"/>
          <p:cNvSpPr/>
          <p:nvPr/>
        </p:nvSpPr>
        <p:spPr>
          <a:xfrm>
            <a:off x="7040600" y="3923575"/>
            <a:ext cx="2106350" cy="1222450"/>
          </a:xfrm>
          <a:custGeom>
            <a:rect b="b" l="l" r="r" t="t"/>
            <a:pathLst>
              <a:path extrusionOk="0" h="48898" w="84254">
                <a:moveTo>
                  <a:pt x="0" y="0"/>
                </a:moveTo>
                <a:lnTo>
                  <a:pt x="50319" y="0"/>
                </a:lnTo>
                <a:lnTo>
                  <a:pt x="84254" y="33935"/>
                </a:lnTo>
                <a:lnTo>
                  <a:pt x="84254" y="48898"/>
                </a:lnTo>
                <a:lnTo>
                  <a:pt x="48798" y="4889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pic>
        <p:nvPicPr>
          <p:cNvPr id="350" name="Google Shape;350;p28"/>
          <p:cNvPicPr preferRelativeResize="0"/>
          <p:nvPr/>
        </p:nvPicPr>
        <p:blipFill rotWithShape="1">
          <a:blip r:embed="rId3">
            <a:alphaModFix/>
          </a:blip>
          <a:srcRect b="83150" l="0" r="0" t="0"/>
          <a:stretch/>
        </p:blipFill>
        <p:spPr>
          <a:xfrm>
            <a:off x="68225" y="1242325"/>
            <a:ext cx="8239098" cy="55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8"/>
          <p:cNvPicPr preferRelativeResize="0"/>
          <p:nvPr/>
        </p:nvPicPr>
        <p:blipFill rotWithShape="1">
          <a:blip r:embed="rId3">
            <a:alphaModFix/>
          </a:blip>
          <a:srcRect b="28759" l="0" r="0" t="59838"/>
          <a:stretch/>
        </p:blipFill>
        <p:spPr>
          <a:xfrm>
            <a:off x="35275" y="2148700"/>
            <a:ext cx="8305001" cy="37887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8"/>
          <p:cNvSpPr txBox="1"/>
          <p:nvPr/>
        </p:nvSpPr>
        <p:spPr>
          <a:xfrm>
            <a:off x="119300" y="2527575"/>
            <a:ext cx="7564500" cy="23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VexRiscv wins by 2–3×</a:t>
            </a:r>
            <a:r>
              <a:rPr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in compute-heavy workloads.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Addition test: VexRiscv ≈ </a:t>
            </a:r>
            <a:r>
              <a:rPr b="1"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89 ms</a:t>
            </a:r>
            <a:r>
              <a:rPr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PicoRV32 ≈ </a:t>
            </a:r>
            <a:r>
              <a:rPr b="1"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92 ms</a:t>
            </a:r>
            <a:br>
              <a:rPr b="1"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ALU throughput: VexRiscv = </a:t>
            </a:r>
            <a:r>
              <a:rPr b="1"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208 ms</a:t>
            </a:r>
            <a:r>
              <a:rPr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PicoRV32 = </a:t>
            </a:r>
            <a:r>
              <a:rPr b="1"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70 ms</a:t>
            </a:r>
            <a:br>
              <a:rPr b="1"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</a:pPr>
            <a:r>
              <a:rPr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VexRiscv pipeline executes more ALU ops per cycle despite higher CPI.</a:t>
            </a:r>
            <a:br>
              <a:rPr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Interpretation:</a:t>
            </a:r>
            <a:br>
              <a:rPr b="1"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Deeper pipelines deliver much higher arithmetic throughput.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3" name="Google Shape;353;p28"/>
          <p:cNvSpPr txBox="1"/>
          <p:nvPr/>
        </p:nvSpPr>
        <p:spPr>
          <a:xfrm>
            <a:off x="7099275" y="920550"/>
            <a:ext cx="101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VexRiscv </a:t>
            </a:r>
            <a:endParaRPr/>
          </a:p>
        </p:txBody>
      </p:sp>
      <p:sp>
        <p:nvSpPr>
          <p:cNvPr id="354" name="Google Shape;354;p28"/>
          <p:cNvSpPr txBox="1"/>
          <p:nvPr/>
        </p:nvSpPr>
        <p:spPr>
          <a:xfrm>
            <a:off x="7099275" y="1797763"/>
            <a:ext cx="101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PicoRV</a:t>
            </a:r>
            <a:r>
              <a:rPr b="1"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/>
          <p:nvPr>
            <p:ph type="title"/>
          </p:nvPr>
        </p:nvSpPr>
        <p:spPr>
          <a:xfrm>
            <a:off x="1297500" y="393750"/>
            <a:ext cx="58458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Findings Analysis (Load/Store Throughput)</a:t>
            </a:r>
            <a:endParaRPr/>
          </a:p>
        </p:txBody>
      </p:sp>
      <p:sp>
        <p:nvSpPr>
          <p:cNvPr id="360" name="Google Shape;360;p29"/>
          <p:cNvSpPr/>
          <p:nvPr/>
        </p:nvSpPr>
        <p:spPr>
          <a:xfrm>
            <a:off x="7040600" y="3923575"/>
            <a:ext cx="2106350" cy="1222450"/>
          </a:xfrm>
          <a:custGeom>
            <a:rect b="b" l="l" r="r" t="t"/>
            <a:pathLst>
              <a:path extrusionOk="0" h="48898" w="84254">
                <a:moveTo>
                  <a:pt x="0" y="0"/>
                </a:moveTo>
                <a:lnTo>
                  <a:pt x="50319" y="0"/>
                </a:lnTo>
                <a:lnTo>
                  <a:pt x="84254" y="33935"/>
                </a:lnTo>
                <a:lnTo>
                  <a:pt x="84254" y="48898"/>
                </a:lnTo>
                <a:lnTo>
                  <a:pt x="48798" y="4889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pic>
        <p:nvPicPr>
          <p:cNvPr id="361" name="Google Shape;361;p29"/>
          <p:cNvPicPr preferRelativeResize="0"/>
          <p:nvPr/>
        </p:nvPicPr>
        <p:blipFill rotWithShape="1">
          <a:blip r:embed="rId3">
            <a:alphaModFix/>
          </a:blip>
          <a:srcRect b="72506" l="0" r="0" t="6205"/>
          <a:stretch/>
        </p:blipFill>
        <p:spPr>
          <a:xfrm>
            <a:off x="68225" y="1289850"/>
            <a:ext cx="8239098" cy="70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29"/>
          <p:cNvPicPr preferRelativeResize="0"/>
          <p:nvPr/>
        </p:nvPicPr>
        <p:blipFill rotWithShape="1">
          <a:blip r:embed="rId3">
            <a:alphaModFix/>
          </a:blip>
          <a:srcRect b="17247" l="0" r="0" t="77534"/>
          <a:stretch/>
        </p:blipFill>
        <p:spPr>
          <a:xfrm>
            <a:off x="35275" y="2327247"/>
            <a:ext cx="8305001" cy="173413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9"/>
          <p:cNvSpPr txBox="1"/>
          <p:nvPr/>
        </p:nvSpPr>
        <p:spPr>
          <a:xfrm>
            <a:off x="105275" y="2675000"/>
            <a:ext cx="7564500" cy="2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VexRiscv ~3× faster</a:t>
            </a:r>
            <a:r>
              <a:rPr lang="en-GB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than PicoRV32.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ontserrat"/>
              <a:buChar char="●"/>
            </a:pPr>
            <a:r>
              <a:rPr lang="en-GB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Load/store test:</a:t>
            </a:r>
            <a:br>
              <a:rPr lang="en-GB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</a:pPr>
            <a:r>
              <a:rPr lang="en-GB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VexRiscv ≈ </a:t>
            </a:r>
            <a:r>
              <a:rPr b="1" lang="en-GB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18 ms</a:t>
            </a:r>
            <a:br>
              <a:rPr b="1" lang="en-GB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</a:pPr>
            <a:r>
              <a:rPr lang="en-GB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PicoRV32 ≈ </a:t>
            </a:r>
            <a:r>
              <a:rPr b="1" lang="en-GB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56 ms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Reason: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ontserrat"/>
              <a:buChar char="●"/>
            </a:pPr>
            <a:r>
              <a:rPr lang="en-GB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VexRiscv has efficient memory forwarding + fewer stall cycles.</a:t>
            </a:r>
            <a:br>
              <a:rPr lang="en-GB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ontserrat"/>
              <a:buChar char="●"/>
            </a:pPr>
            <a:r>
              <a:rPr lang="en-GB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PicoRV32 performs loads/stores over multiple internal cycles.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4" name="Google Shape;364;p29"/>
          <p:cNvSpPr txBox="1"/>
          <p:nvPr/>
        </p:nvSpPr>
        <p:spPr>
          <a:xfrm>
            <a:off x="7099275" y="920550"/>
            <a:ext cx="101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VexRiscv </a:t>
            </a:r>
            <a:endParaRPr/>
          </a:p>
        </p:txBody>
      </p:sp>
      <p:sp>
        <p:nvSpPr>
          <p:cNvPr id="365" name="Google Shape;365;p29"/>
          <p:cNvSpPr txBox="1"/>
          <p:nvPr/>
        </p:nvSpPr>
        <p:spPr>
          <a:xfrm>
            <a:off x="7099275" y="1957938"/>
            <a:ext cx="101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PicoRV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0"/>
          <p:cNvSpPr txBox="1"/>
          <p:nvPr>
            <p:ph type="title"/>
          </p:nvPr>
        </p:nvSpPr>
        <p:spPr>
          <a:xfrm>
            <a:off x="1297500" y="393750"/>
            <a:ext cx="58458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Findings Analysis (Mulitply/Divide)</a:t>
            </a:r>
            <a:endParaRPr/>
          </a:p>
        </p:txBody>
      </p:sp>
      <p:sp>
        <p:nvSpPr>
          <p:cNvPr id="371" name="Google Shape;371;p30"/>
          <p:cNvSpPr/>
          <p:nvPr/>
        </p:nvSpPr>
        <p:spPr>
          <a:xfrm>
            <a:off x="7040600" y="3923575"/>
            <a:ext cx="2106350" cy="1222450"/>
          </a:xfrm>
          <a:custGeom>
            <a:rect b="b" l="l" r="r" t="t"/>
            <a:pathLst>
              <a:path extrusionOk="0" h="48898" w="84254">
                <a:moveTo>
                  <a:pt x="0" y="0"/>
                </a:moveTo>
                <a:lnTo>
                  <a:pt x="50319" y="0"/>
                </a:lnTo>
                <a:lnTo>
                  <a:pt x="84254" y="33935"/>
                </a:lnTo>
                <a:lnTo>
                  <a:pt x="84254" y="48898"/>
                </a:lnTo>
                <a:lnTo>
                  <a:pt x="48798" y="4889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pic>
        <p:nvPicPr>
          <p:cNvPr id="372" name="Google Shape;372;p30"/>
          <p:cNvPicPr preferRelativeResize="0"/>
          <p:nvPr/>
        </p:nvPicPr>
        <p:blipFill rotWithShape="1">
          <a:blip r:embed="rId3">
            <a:alphaModFix/>
          </a:blip>
          <a:srcRect b="75684" l="0" r="0" t="6206"/>
          <a:stretch/>
        </p:blipFill>
        <p:spPr>
          <a:xfrm>
            <a:off x="68225" y="1289850"/>
            <a:ext cx="8239098" cy="59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0"/>
          <p:cNvPicPr preferRelativeResize="0"/>
          <p:nvPr/>
        </p:nvPicPr>
        <p:blipFill rotWithShape="1">
          <a:blip r:embed="rId3">
            <a:alphaModFix/>
          </a:blip>
          <a:srcRect b="21083" l="0" r="0" t="71314"/>
          <a:stretch/>
        </p:blipFill>
        <p:spPr>
          <a:xfrm>
            <a:off x="35275" y="2154613"/>
            <a:ext cx="8305001" cy="252624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0"/>
          <p:cNvSpPr txBox="1"/>
          <p:nvPr/>
        </p:nvSpPr>
        <p:spPr>
          <a:xfrm>
            <a:off x="68225" y="2407225"/>
            <a:ext cx="5768100" cy="30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Multiply: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GB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VexRiscv: </a:t>
            </a:r>
            <a:r>
              <a:rPr b="1" lang="en-GB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12 ms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GB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PicoRV32: </a:t>
            </a:r>
            <a:r>
              <a:rPr b="1" lang="en-GB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20 ms</a:t>
            </a:r>
            <a:br>
              <a:rPr b="1" lang="en-GB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→ VexRiscv ~40% faster (hardware multiplier).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Divide: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GB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VexRiscv: </a:t>
            </a:r>
            <a:r>
              <a:rPr b="1" lang="en-GB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1.28 ms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GB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PicoRV32: </a:t>
            </a:r>
            <a:r>
              <a:rPr b="1" lang="en-GB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0.084 ms</a:t>
            </a:r>
            <a:br>
              <a:rPr b="1" lang="en-GB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→ PicoRV32 ~15× faster (likely optimized divider config).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Key point:</a:t>
            </a:r>
            <a:br>
              <a:rPr b="1" lang="en-GB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Multiply/divide performance heavily depends on each core’s implementation.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p30"/>
          <p:cNvSpPr txBox="1"/>
          <p:nvPr/>
        </p:nvSpPr>
        <p:spPr>
          <a:xfrm>
            <a:off x="7099275" y="920550"/>
            <a:ext cx="101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VexRiscv </a:t>
            </a:r>
            <a:endParaRPr/>
          </a:p>
        </p:txBody>
      </p:sp>
      <p:sp>
        <p:nvSpPr>
          <p:cNvPr id="376" name="Google Shape;376;p30"/>
          <p:cNvSpPr txBox="1"/>
          <p:nvPr/>
        </p:nvSpPr>
        <p:spPr>
          <a:xfrm>
            <a:off x="7099275" y="1837688"/>
            <a:ext cx="101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PicoRV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1"/>
          <p:cNvSpPr txBox="1"/>
          <p:nvPr>
            <p:ph type="title"/>
          </p:nvPr>
        </p:nvSpPr>
        <p:spPr>
          <a:xfrm>
            <a:off x="1255575" y="288475"/>
            <a:ext cx="68562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Findings Analysis (Branch Tests)</a:t>
            </a:r>
            <a:endParaRPr/>
          </a:p>
        </p:txBody>
      </p:sp>
      <p:sp>
        <p:nvSpPr>
          <p:cNvPr id="382" name="Google Shape;382;p31"/>
          <p:cNvSpPr/>
          <p:nvPr/>
        </p:nvSpPr>
        <p:spPr>
          <a:xfrm>
            <a:off x="7040600" y="3923575"/>
            <a:ext cx="2106350" cy="1222450"/>
          </a:xfrm>
          <a:custGeom>
            <a:rect b="b" l="l" r="r" t="t"/>
            <a:pathLst>
              <a:path extrusionOk="0" h="48898" w="84254">
                <a:moveTo>
                  <a:pt x="0" y="0"/>
                </a:moveTo>
                <a:lnTo>
                  <a:pt x="50319" y="0"/>
                </a:lnTo>
                <a:lnTo>
                  <a:pt x="84254" y="33935"/>
                </a:lnTo>
                <a:lnTo>
                  <a:pt x="84254" y="48898"/>
                </a:lnTo>
                <a:lnTo>
                  <a:pt x="48798" y="4889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pic>
        <p:nvPicPr>
          <p:cNvPr id="383" name="Google Shape;383;p31"/>
          <p:cNvPicPr preferRelativeResize="0"/>
          <p:nvPr/>
        </p:nvPicPr>
        <p:blipFill rotWithShape="1">
          <a:blip r:embed="rId3">
            <a:alphaModFix/>
          </a:blip>
          <a:srcRect b="61782" l="0" r="0" t="6206"/>
          <a:stretch/>
        </p:blipFill>
        <p:spPr>
          <a:xfrm>
            <a:off x="68225" y="1121425"/>
            <a:ext cx="8239098" cy="105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1"/>
          <p:cNvPicPr preferRelativeResize="0"/>
          <p:nvPr/>
        </p:nvPicPr>
        <p:blipFill rotWithShape="1">
          <a:blip r:embed="rId3">
            <a:alphaModFix/>
          </a:blip>
          <a:srcRect b="7697" l="0" r="0" t="82115"/>
          <a:stretch/>
        </p:blipFill>
        <p:spPr>
          <a:xfrm>
            <a:off x="35275" y="2513498"/>
            <a:ext cx="8305001" cy="338525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1"/>
          <p:cNvSpPr txBox="1"/>
          <p:nvPr/>
        </p:nvSpPr>
        <p:spPr>
          <a:xfrm>
            <a:off x="68225" y="2407225"/>
            <a:ext cx="5768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6" name="Google Shape;386;p31"/>
          <p:cNvSpPr txBox="1"/>
          <p:nvPr/>
        </p:nvSpPr>
        <p:spPr>
          <a:xfrm>
            <a:off x="7099275" y="787225"/>
            <a:ext cx="101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VexRiscv </a:t>
            </a:r>
            <a:endParaRPr/>
          </a:p>
        </p:txBody>
      </p:sp>
      <p:sp>
        <p:nvSpPr>
          <p:cNvPr id="387" name="Google Shape;387;p31"/>
          <p:cNvSpPr txBox="1"/>
          <p:nvPr/>
        </p:nvSpPr>
        <p:spPr>
          <a:xfrm>
            <a:off x="7099275" y="2111363"/>
            <a:ext cx="101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PicoRV </a:t>
            </a:r>
            <a:endParaRPr/>
          </a:p>
        </p:txBody>
      </p:sp>
      <p:graphicFrame>
        <p:nvGraphicFramePr>
          <p:cNvPr id="388" name="Google Shape;388;p31"/>
          <p:cNvGraphicFramePr/>
          <p:nvPr/>
        </p:nvGraphicFramePr>
        <p:xfrm>
          <a:off x="4877300" y="318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{D1EE29EA-1F9F-40F8-9770-AA1D85CADF63}</a:tableStyleId>
              </a:tblPr>
              <a:tblGrid>
                <a:gridCol w="1284300"/>
                <a:gridCol w="966675"/>
                <a:gridCol w="897625"/>
                <a:gridCol w="9666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Branch Test</a:t>
                      </a:r>
                      <a:endParaRPr b="1"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PicoRV32</a:t>
                      </a:r>
                      <a:endParaRPr b="1"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VexRiscv</a:t>
                      </a:r>
                      <a:endParaRPr b="1"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Winner</a:t>
                      </a:r>
                      <a:endParaRPr b="1"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Always Taken</a:t>
                      </a:r>
                      <a:endParaRPr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 ms</a:t>
                      </a:r>
                      <a:endParaRPr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34 ms</a:t>
                      </a:r>
                      <a:endParaRPr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PicoRV32</a:t>
                      </a:r>
                      <a:endParaRPr b="1"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50/50</a:t>
                      </a:r>
                      <a:endParaRPr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40 ms</a:t>
                      </a:r>
                      <a:endParaRPr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52 ms</a:t>
                      </a:r>
                      <a:endParaRPr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PicoRV32</a:t>
                      </a:r>
                      <a:endParaRPr b="1"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89" name="Google Shape;389;p31"/>
          <p:cNvSpPr txBox="1"/>
          <p:nvPr/>
        </p:nvSpPr>
        <p:spPr>
          <a:xfrm>
            <a:off x="178525" y="2719100"/>
            <a:ext cx="4186200" cy="22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PicoRV32 outperforms VexRiscv in branch-heavy code.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Why?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GB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PicoRV32 = 1-stage → almost </a:t>
            </a:r>
            <a:r>
              <a:rPr b="1" lang="en-GB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no branch penalty</a:t>
            </a:r>
            <a:r>
              <a:rPr lang="en-GB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br>
              <a:rPr lang="en-GB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Char char="●"/>
            </a:pPr>
            <a:r>
              <a:rPr lang="en-GB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VexRiscv = 5-stage → mispredictions flush several pipeline stages.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2"/>
          <p:cNvSpPr txBox="1"/>
          <p:nvPr>
            <p:ph type="title"/>
          </p:nvPr>
        </p:nvSpPr>
        <p:spPr>
          <a:xfrm>
            <a:off x="1255575" y="288475"/>
            <a:ext cx="68562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Findings Analysis (Shift Operations)</a:t>
            </a:r>
            <a:endParaRPr/>
          </a:p>
        </p:txBody>
      </p:sp>
      <p:sp>
        <p:nvSpPr>
          <p:cNvPr id="395" name="Google Shape;395;p32"/>
          <p:cNvSpPr/>
          <p:nvPr/>
        </p:nvSpPr>
        <p:spPr>
          <a:xfrm>
            <a:off x="7040600" y="3923575"/>
            <a:ext cx="2106350" cy="1222450"/>
          </a:xfrm>
          <a:custGeom>
            <a:rect b="b" l="l" r="r" t="t"/>
            <a:pathLst>
              <a:path extrusionOk="0" h="48898" w="84254">
                <a:moveTo>
                  <a:pt x="0" y="0"/>
                </a:moveTo>
                <a:lnTo>
                  <a:pt x="50319" y="0"/>
                </a:lnTo>
                <a:lnTo>
                  <a:pt x="84254" y="33935"/>
                </a:lnTo>
                <a:lnTo>
                  <a:pt x="84254" y="48898"/>
                </a:lnTo>
                <a:lnTo>
                  <a:pt x="48798" y="4889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pic>
        <p:nvPicPr>
          <p:cNvPr id="396" name="Google Shape;396;p32"/>
          <p:cNvPicPr preferRelativeResize="0"/>
          <p:nvPr/>
        </p:nvPicPr>
        <p:blipFill rotWithShape="1">
          <a:blip r:embed="rId3">
            <a:alphaModFix/>
          </a:blip>
          <a:srcRect b="58164" l="0" r="0" t="6206"/>
          <a:stretch/>
        </p:blipFill>
        <p:spPr>
          <a:xfrm>
            <a:off x="68225" y="1121425"/>
            <a:ext cx="8239098" cy="117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2"/>
          <p:cNvPicPr preferRelativeResize="0"/>
          <p:nvPr/>
        </p:nvPicPr>
        <p:blipFill rotWithShape="1">
          <a:blip r:embed="rId3">
            <a:alphaModFix/>
          </a:blip>
          <a:srcRect b="3525" l="0" r="0" t="92251"/>
          <a:stretch/>
        </p:blipFill>
        <p:spPr>
          <a:xfrm>
            <a:off x="68225" y="2529714"/>
            <a:ext cx="8305001" cy="14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2"/>
          <p:cNvSpPr txBox="1"/>
          <p:nvPr/>
        </p:nvSpPr>
        <p:spPr>
          <a:xfrm>
            <a:off x="68225" y="2407225"/>
            <a:ext cx="5768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9" name="Google Shape;399;p32"/>
          <p:cNvSpPr txBox="1"/>
          <p:nvPr/>
        </p:nvSpPr>
        <p:spPr>
          <a:xfrm>
            <a:off x="7099275" y="787225"/>
            <a:ext cx="101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VexRiscv </a:t>
            </a:r>
            <a:endParaRPr/>
          </a:p>
        </p:txBody>
      </p:sp>
      <p:sp>
        <p:nvSpPr>
          <p:cNvPr id="400" name="Google Shape;400;p32"/>
          <p:cNvSpPr txBox="1"/>
          <p:nvPr/>
        </p:nvSpPr>
        <p:spPr>
          <a:xfrm>
            <a:off x="7099275" y="2230663"/>
            <a:ext cx="101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PicoRV </a:t>
            </a:r>
            <a:endParaRPr/>
          </a:p>
        </p:txBody>
      </p:sp>
      <p:sp>
        <p:nvSpPr>
          <p:cNvPr id="401" name="Google Shape;401;p32"/>
          <p:cNvSpPr txBox="1"/>
          <p:nvPr/>
        </p:nvSpPr>
        <p:spPr>
          <a:xfrm>
            <a:off x="178525" y="2719100"/>
            <a:ext cx="6094800" cy="22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</a:pPr>
            <a:r>
              <a:rPr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Shift test:</a:t>
            </a:r>
            <a:br>
              <a:rPr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</a:pPr>
            <a:r>
              <a:rPr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VexRiscv: </a:t>
            </a:r>
            <a:r>
              <a:rPr b="1"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108 ms</a:t>
            </a:r>
            <a:br>
              <a:rPr b="1"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</a:pPr>
            <a:r>
              <a:rPr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PicoRV32: </a:t>
            </a:r>
            <a:r>
              <a:rPr b="1"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44 ms</a:t>
            </a:r>
            <a:br>
              <a:rPr b="1"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Conclusion:</a:t>
            </a:r>
            <a:br>
              <a:rPr b="1"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PicoRV32 appears to have a more efficient or simpler shift path in this configuration.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Char char="●"/>
            </a:pPr>
            <a:r>
              <a:t/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3"/>
          <p:cNvSpPr txBox="1"/>
          <p:nvPr>
            <p:ph type="title"/>
          </p:nvPr>
        </p:nvSpPr>
        <p:spPr>
          <a:xfrm>
            <a:off x="1388875" y="267425"/>
            <a:ext cx="6856200" cy="4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Overall Architectural Tradeoffs</a:t>
            </a:r>
            <a:endParaRPr/>
          </a:p>
        </p:txBody>
      </p:sp>
      <p:sp>
        <p:nvSpPr>
          <p:cNvPr id="407" name="Google Shape;407;p33"/>
          <p:cNvSpPr txBox="1"/>
          <p:nvPr>
            <p:ph type="title"/>
          </p:nvPr>
        </p:nvSpPr>
        <p:spPr>
          <a:xfrm>
            <a:off x="993925" y="343800"/>
            <a:ext cx="6856200" cy="39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100"/>
              <a:t>✔ VexRiscv Advantages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Char char="●"/>
            </a:pPr>
            <a:r>
              <a:rPr lang="en-GB" sz="1100"/>
              <a:t>Highest arithmetic throughput</a:t>
            </a:r>
            <a:br>
              <a:rPr lang="en-GB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Char char="●"/>
            </a:pPr>
            <a:r>
              <a:rPr lang="en-GB" sz="1100"/>
              <a:t>Best memory performance</a:t>
            </a:r>
            <a:br>
              <a:rPr lang="en-GB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Char char="●"/>
            </a:pPr>
            <a:r>
              <a:rPr lang="en-GB" sz="1100"/>
              <a:t>Faster multiplication</a:t>
            </a:r>
            <a:br>
              <a:rPr lang="en-GB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Char char="●"/>
            </a:pPr>
            <a:r>
              <a:rPr lang="en-GB" sz="1100"/>
              <a:t>Suitable for compute-heavy or DSP-like workloads</a:t>
            </a:r>
            <a:br>
              <a:rPr lang="en-GB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100"/>
              <a:t>✔ PicoRV32 Advantages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Char char="●"/>
            </a:pPr>
            <a:r>
              <a:rPr lang="en-GB" sz="1100"/>
              <a:t>Excellent branch performance</a:t>
            </a:r>
            <a:br>
              <a:rPr lang="en-GB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Char char="●"/>
            </a:pPr>
            <a:r>
              <a:rPr lang="en-GB" sz="1100"/>
              <a:t>Very low pipeline latency</a:t>
            </a:r>
            <a:br>
              <a:rPr lang="en-GB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Char char="●"/>
            </a:pPr>
            <a:r>
              <a:rPr lang="en-GB" sz="1100"/>
              <a:t>Better division performance in this configuration</a:t>
            </a:r>
            <a:br>
              <a:rPr lang="en-GB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Char char="●"/>
            </a:pPr>
            <a:r>
              <a:rPr lang="en-GB" sz="1100"/>
              <a:t>More predictable execution (useful for real-time)</a:t>
            </a:r>
            <a:br>
              <a:rPr lang="en-GB" sz="1100"/>
            </a:b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408" name="Google Shape;40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9625" y="1146800"/>
            <a:ext cx="3634273" cy="2849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