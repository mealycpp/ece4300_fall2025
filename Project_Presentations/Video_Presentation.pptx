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16-bit vs 32-bit MIPS Processor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04040"/>
                </a:solidFill>
              </a:defRPr>
            </a:pPr>
            <a:r>
              <a:t>Algorithmic Complexity vs Data Width</a:t>
            </a:r>
          </a:p>
          <a:p/>
          <a:p>
            <a:r>
              <a:t>Ricardo Herrera-Pineda, Sean Wygant,</a:t>
            </a:r>
          </a:p>
          <a:p>
            <a:r>
              <a:t>Daniel Mondragon, Heba Hafez</a:t>
            </a:r>
          </a:p>
          <a:p/>
          <a:p>
            <a:r>
              <a:t>CPP Computer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57F"/>
                </a:solidFill>
              </a:defRPr>
            </a:pPr>
            <a: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Two complete MIPS processors on FPGA: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8328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  • 16-bit single-cycle MIPS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  • 32-bit single-cycle MIPS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04040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4C5C"/>
                </a:solidFill>
              </a:defRPr>
            </a:pPr>
            <a:r>
              <a:t>Goal: Compare resource utilization and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21208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to understand the trade-offs between data width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66928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and algorithmic complexity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Research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7772400" cy="640080"/>
          </a:xfrm>
          <a:prstGeom prst="rect">
            <a:avLst/>
          </a:prstGeom>
          <a:solidFill>
            <a:srgbClr val="F0F8F8"/>
          </a:solidFill>
          <a:ln w="25400">
            <a:solidFill>
              <a:srgbClr val="1A7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 wrap="square"/>
          <a:lstStyle/>
          <a:p>
            <a:pPr algn="ctr">
              <a:defRPr sz="1800" b="1">
                <a:solidFill>
                  <a:srgbClr val="0F4C5C"/>
                </a:solidFill>
              </a:defRPr>
            </a:pPr>
            <a:r>
              <a:t>RQ1: Does data path width directly correlate with hardware resource utilization?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7772400" cy="640080"/>
          </a:xfrm>
          <a:prstGeom prst="rect">
            <a:avLst/>
          </a:prstGeom>
          <a:solidFill>
            <a:srgbClr val="F0F8F8"/>
          </a:solidFill>
          <a:ln w="25400">
            <a:solidFill>
              <a:srgbClr val="1A7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 wrap="square"/>
          <a:lstStyle/>
          <a:p>
            <a:pPr algn="ctr">
              <a:defRPr sz="1800" b="1">
                <a:solidFill>
                  <a:srgbClr val="0F4C5C"/>
                </a:solidFill>
              </a:defRPr>
            </a:pPr>
            <a:r>
              <a:t>RQ2: How do algorithmic design choices impact resource consumption independent of data width?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023360"/>
            <a:ext cx="7772400" cy="640080"/>
          </a:xfrm>
          <a:prstGeom prst="rect">
            <a:avLst/>
          </a:prstGeom>
          <a:solidFill>
            <a:srgbClr val="F0F8F8"/>
          </a:solidFill>
          <a:ln w="25400">
            <a:solidFill>
              <a:srgbClr val="1A7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 wrap="square"/>
          <a:lstStyle/>
          <a:p>
            <a:pPr algn="ctr">
              <a:defRPr sz="1800" b="1">
                <a:solidFill>
                  <a:srgbClr val="0F4C5C"/>
                </a:solidFill>
              </a:defRPr>
            </a:pPr>
            <a:r>
              <a:t>RQ3: What are the performance implications of different branch calculation strategies?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120640"/>
            <a:ext cx="7772400" cy="640080"/>
          </a:xfrm>
          <a:prstGeom prst="rect">
            <a:avLst/>
          </a:prstGeom>
          <a:solidFill>
            <a:srgbClr val="F0F8F8"/>
          </a:solidFill>
          <a:ln w="25400">
            <a:solidFill>
              <a:srgbClr val="1A7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 wrap="square"/>
          <a:lstStyle/>
          <a:p>
            <a:pPr algn="ctr">
              <a:defRPr sz="1800" b="1">
                <a:solidFill>
                  <a:srgbClr val="0F4C5C"/>
                </a:solidFill>
              </a:defRPr>
            </a:pPr>
            <a:r>
              <a:t>RQ4: Can these findings inform future educational processor implementations?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Our Approach: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57F"/>
                </a:solidFill>
              </a:defRPr>
            </a:pPr>
            <a:r>
              <a:t>Step 1: Design &amp;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3657600" cy="3200400"/>
          </a:xfrm>
          <a:prstGeom prst="rect">
            <a:avLst/>
          </a:prstGeom>
          <a:solidFill>
            <a:srgbClr val="1A7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16-Bit MIPS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8 registers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16-bit data path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13 instructions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Complex branch logic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  (6 operations)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2560320"/>
            <a:ext cx="3657600" cy="3200400"/>
          </a:xfrm>
          <a:prstGeom prst="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32-Bit MIPS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32 registers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32-bit data path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13 instructions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Simple branch logic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  (2 operations)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Our Approach: Testing &amp;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757F"/>
                </a:solidFill>
              </a:defRPr>
            </a:pPr>
            <a:r>
              <a:t>Step 2: Measure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4C5C"/>
                </a:solidFill>
              </a:defRPr>
            </a:pPr>
            <a:r>
              <a:t>• Hardware Resources: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06324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LUTs, Flip-Flops, I/O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4C5C"/>
                </a:solidFill>
              </a:defRPr>
            </a:pPr>
            <a:r>
              <a:t>• Power Consumption: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977639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Dynamic, Static,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4C5C"/>
                </a:solidFill>
              </a:defRPr>
            </a:pPr>
            <a:r>
              <a:t>• Timing Analysis: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89204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Endpoints, Critical Paths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48640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4C5C"/>
                </a:solidFill>
              </a:defRPr>
            </a:pPr>
            <a:r>
              <a:t>• Performance: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580644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Instruction Count, Execution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Finding: The Paradox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solidFill>
            <a:srgbClr val="FFFAF0"/>
          </a:solidFill>
          <a:ln w="508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3200" b="1">
                <a:solidFill>
                  <a:srgbClr val="E65100"/>
                </a:solidFill>
              </a:defRPr>
            </a:pPr>
            <a:r>
              <a:t>16-bit uses MORE resources than 32-bit!</a:t>
            </a:r>
          </a:p>
          <a:p>
            <a:pPr algn="ctr">
              <a:spcBef>
                <a:spcPts val="1200"/>
              </a:spcBef>
              <a:defRPr sz="2800" b="1">
                <a:solidFill>
                  <a:srgbClr val="0F4C5C"/>
                </a:solidFill>
              </a:defRPr>
            </a:pPr>
            <a:r>
              <a:t>414 LUTs vs 376 LUTs (+10%)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04040"/>
                </a:solidFill>
              </a:defRPr>
            </a:pPr>
            <a:r>
              <a:t>Expected: Narrower = Fewer resources ✗</a:t>
            </a:r>
          </a:p>
          <a:p>
            <a:pPr algn="ctr">
              <a:spcBef>
                <a:spcPts val="1000"/>
              </a:spcBef>
              <a:defRPr sz="2000" b="1">
                <a:solidFill>
                  <a:srgbClr val="2E7D32"/>
                </a:solidFill>
              </a:defRPr>
            </a:pPr>
            <a:r>
              <a:t>Reality: Complex algorithm = More resources 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Results: Resource Utilization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1828800" cy="4572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Metric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1828800"/>
            <a:ext cx="1828800" cy="4572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16-Bit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1828800"/>
            <a:ext cx="1828800" cy="4572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32-Bit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828800"/>
            <a:ext cx="1645920" cy="4572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Winner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286000"/>
            <a:ext cx="1828800" cy="457200"/>
          </a:xfrm>
          <a:prstGeom prst="rect">
            <a:avLst/>
          </a:prstGeom>
          <a:solidFill>
            <a:srgbClr val="F0F8F8"/>
          </a:solidFill>
          <a:ln w="12700">
            <a:solidFill>
              <a:srgbClr val="1A7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404040"/>
                </a:solidFill>
              </a:defRPr>
            </a:pPr>
            <a:r>
              <a:t>LUTs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2286000"/>
            <a:ext cx="1828800" cy="457200"/>
          </a:xfrm>
          <a:prstGeom prst="rect">
            <a:avLst/>
          </a:prstGeom>
          <a:solidFill>
            <a:srgbClr val="F0F8F8"/>
          </a:solidFill>
          <a:ln w="12700">
            <a:solidFill>
              <a:srgbClr val="1A7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04040"/>
                </a:solidFill>
              </a:defRPr>
            </a:pPr>
            <a:r>
              <a:t>414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2286000"/>
            <a:ext cx="1828800" cy="457200"/>
          </a:xfrm>
          <a:prstGeom prst="rect">
            <a:avLst/>
          </a:prstGeom>
          <a:solidFill>
            <a:srgbClr val="F0F8F8"/>
          </a:solidFill>
          <a:ln w="12700">
            <a:solidFill>
              <a:srgbClr val="1A7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04040"/>
                </a:solidFill>
              </a:defRPr>
            </a:pPr>
            <a:r>
              <a:t>376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2286000"/>
            <a:ext cx="1645920" cy="457200"/>
          </a:xfrm>
          <a:prstGeom prst="rect">
            <a:avLst/>
          </a:prstGeom>
          <a:solidFill>
            <a:srgbClr val="F0F8F8"/>
          </a:solidFill>
          <a:ln w="12700">
            <a:solidFill>
              <a:srgbClr val="1A7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32-bit 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78892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404040"/>
                </a:solidFill>
              </a:defRPr>
            </a:pPr>
            <a:r>
              <a:t>Flip-Flops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78892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04040"/>
                </a:solidFill>
              </a:defRPr>
            </a:pPr>
            <a:r>
              <a:t>116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278892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04040"/>
                </a:solidFill>
              </a:defRPr>
            </a:pPr>
            <a:r>
              <a:t>196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2788920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16-bit 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291840"/>
            <a:ext cx="1828800" cy="457200"/>
          </a:xfrm>
          <a:prstGeom prst="rect">
            <a:avLst/>
          </a:prstGeom>
          <a:solidFill>
            <a:srgbClr val="F0F8F8"/>
          </a:solidFill>
          <a:ln w="12700">
            <a:solidFill>
              <a:srgbClr val="1A7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404040"/>
                </a:solidFill>
              </a:defRPr>
            </a:pPr>
            <a:r>
              <a:t>Logic Power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3291840"/>
            <a:ext cx="1828800" cy="457200"/>
          </a:xfrm>
          <a:prstGeom prst="rect">
            <a:avLst/>
          </a:prstGeom>
          <a:solidFill>
            <a:srgbClr val="F0F8F8"/>
          </a:solidFill>
          <a:ln w="12700">
            <a:solidFill>
              <a:srgbClr val="1A7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04040"/>
                </a:solidFill>
              </a:defRPr>
            </a:pPr>
            <a:r>
              <a:t>0.126 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3291840"/>
            <a:ext cx="1828800" cy="457200"/>
          </a:xfrm>
          <a:prstGeom prst="rect">
            <a:avLst/>
          </a:prstGeom>
          <a:solidFill>
            <a:srgbClr val="F0F8F8"/>
          </a:solidFill>
          <a:ln w="12700">
            <a:solidFill>
              <a:srgbClr val="1A7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04040"/>
                </a:solidFill>
              </a:defRPr>
            </a:pPr>
            <a:r>
              <a:t>0.120 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3291840"/>
            <a:ext cx="1645920" cy="457200"/>
          </a:xfrm>
          <a:prstGeom prst="rect">
            <a:avLst/>
          </a:prstGeom>
          <a:solidFill>
            <a:srgbClr val="F0F8F8"/>
          </a:solidFill>
          <a:ln w="12700">
            <a:solidFill>
              <a:srgbClr val="1A7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32-bit 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79476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404040"/>
                </a:solidFill>
              </a:defRPr>
            </a:pPr>
            <a:r>
              <a:t>Endpoints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379476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04040"/>
                </a:solidFill>
              </a:defRPr>
            </a:pPr>
            <a:r>
              <a:t>887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379476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04040"/>
                </a:solidFill>
              </a:defRPr>
            </a:pPr>
            <a:r>
              <a:t>551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3794760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32-bit 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754880"/>
            <a:ext cx="7315200" cy="1097280"/>
          </a:xfrm>
          <a:prstGeom prst="rect">
            <a:avLst/>
          </a:prstGeom>
          <a:solidFill>
            <a:srgbClr val="F0F8F8"/>
          </a:solidFill>
          <a:ln w="25400">
            <a:solidFill>
              <a:srgbClr val="1A7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4C5C"/>
                </a:solidFill>
              </a:defRPr>
            </a:pPr>
            <a:r>
              <a:t>Pattern: 32-bit wins on logic efficiency (LUTs, power, endpoints)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Results: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4C5C"/>
                </a:solidFill>
              </a:defRPr>
            </a:pPr>
            <a:r>
              <a:t>Instructions Executed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16-bit: 20,354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0116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32-bit: 16,836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011681"/>
            <a:ext cx="36576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→ 21% fewer (32-bit)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4C5C"/>
                </a:solidFill>
              </a:defRPr>
            </a:pPr>
            <a:r>
              <a:t>Execution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747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16-bit: 8.07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4747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32-bit: 6.70 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3474721"/>
            <a:ext cx="36576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→ 21% faster (32-bit)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4C5C"/>
                </a:solidFill>
              </a:defRPr>
            </a:pPr>
            <a:r>
              <a:t>Energy Consumed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937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16-bit: 6.72 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9377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32-bit: 5.78 J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4937761"/>
            <a:ext cx="36576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→ 14% less (32-bit)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Root Cause: Branch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65100"/>
                </a:solidFill>
              </a:defRPr>
            </a:pPr>
            <a:r>
              <a:t>Why does 16-bit use MORE LUTs?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60320"/>
            <a:ext cx="3840480" cy="3200400"/>
          </a:xfrm>
          <a:prstGeom prst="rect">
            <a:avLst/>
          </a:prstGeom>
          <a:solidFill>
            <a:srgbClr val="FFF0F0"/>
          </a:solidFill>
          <a:ln w="381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2000" b="1">
                <a:solidFill>
                  <a:srgbClr val="E65100"/>
                </a:solidFill>
              </a:defRPr>
            </a:pPr>
            <a:r>
              <a:t>16-Bit Branch Logic</a:t>
            </a:r>
          </a:p>
          <a:p>
            <a:pPr>
              <a:spcBef>
                <a:spcPts val="400"/>
              </a:spcBef>
              <a:defRPr sz="1600">
                <a:solidFill>
                  <a:srgbClr val="404040"/>
                </a:solidFill>
              </a:defRPr>
            </a:pPr>
            <a:r>
              <a:t>1. Shift immediate</a:t>
            </a:r>
          </a:p>
          <a:p>
            <a:pPr>
              <a:spcBef>
                <a:spcPts val="400"/>
              </a:spcBef>
              <a:defRPr sz="1600">
                <a:solidFill>
                  <a:srgbClr val="404040"/>
                </a:solidFill>
              </a:defRPr>
            </a:pPr>
            <a:r>
              <a:t>2. Check if negative</a:t>
            </a:r>
          </a:p>
          <a:p>
            <a:pPr>
              <a:spcBef>
                <a:spcPts val="400"/>
              </a:spcBef>
              <a:defRPr sz="1600">
                <a:solidFill>
                  <a:srgbClr val="404040"/>
                </a:solidFill>
              </a:defRPr>
            </a:pPr>
            <a:r>
              <a:t>3. Negate (NOT + 1)</a:t>
            </a:r>
          </a:p>
          <a:p>
            <a:pPr>
              <a:spcBef>
                <a:spcPts val="400"/>
              </a:spcBef>
              <a:defRPr sz="1600">
                <a:solidFill>
                  <a:srgbClr val="404040"/>
                </a:solidFill>
              </a:defRPr>
            </a:pPr>
            <a:r>
              <a:t>4. Subtract OR Add</a:t>
            </a:r>
          </a:p>
          <a:p>
            <a:pPr>
              <a:spcBef>
                <a:spcPts val="400"/>
              </a:spcBef>
              <a:defRPr sz="1600">
                <a:solidFill>
                  <a:srgbClr val="404040"/>
                </a:solidFill>
              </a:defRPr>
            </a:pPr>
            <a:r>
              <a:t>5. Multiplex result</a:t>
            </a:r>
          </a:p>
          <a:p>
            <a:pPr>
              <a:spcBef>
                <a:spcPts val="400"/>
              </a:spcBef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defRPr sz="1400" b="1">
                <a:solidFill>
                  <a:srgbClr val="E65100"/>
                </a:solidFill>
              </a:defRPr>
            </a:pPr>
            <a:r>
              <a:t>Total: 6 operations</a:t>
            </a:r>
          </a:p>
          <a:p>
            <a:pPr>
              <a:spcBef>
                <a:spcPts val="400"/>
              </a:spcBef>
              <a:defRPr sz="1400" b="1">
                <a:solidFill>
                  <a:srgbClr val="E65100"/>
                </a:solidFill>
              </a:defRPr>
            </a:pPr>
            <a:r>
              <a:t>~90 LUTs needed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2560320"/>
            <a:ext cx="3840480" cy="3200400"/>
          </a:xfrm>
          <a:prstGeom prst="rect">
            <a:avLst/>
          </a:prstGeom>
          <a:solidFill>
            <a:srgbClr val="F0FFF0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2000" b="1">
                <a:solidFill>
                  <a:srgbClr val="2E7D32"/>
                </a:solidFill>
              </a:defRPr>
            </a:pPr>
            <a:r>
              <a:t>32-Bit Branch Logic</a:t>
            </a:r>
          </a:p>
          <a:p>
            <a:pPr>
              <a:spcBef>
                <a:spcPts val="400"/>
              </a:spcBef>
              <a:defRPr sz="1600">
                <a:solidFill>
                  <a:srgbClr val="404040"/>
                </a:solidFill>
              </a:defRPr>
            </a:pPr>
            <a:r>
              <a:t>1. Shift immediate</a:t>
            </a:r>
          </a:p>
          <a:p>
            <a:pPr>
              <a:spcBef>
                <a:spcPts val="400"/>
              </a:spcBef>
              <a:defRPr sz="1600">
                <a:solidFill>
                  <a:srgbClr val="404040"/>
                </a:solidFill>
              </a:defRPr>
            </a:pPr>
            <a:r>
              <a:t>2. Add to PC</a:t>
            </a:r>
          </a:p>
          <a:p>
            <a:pPr>
              <a:spcBef>
                <a:spcPts val="400"/>
              </a:spcBef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defRPr sz="1400" b="1">
                <a:solidFill>
                  <a:srgbClr val="2E7D32"/>
                </a:solidFill>
              </a:defRPr>
            </a:pPr>
            <a:r>
              <a:t>Total: 2 operations</a:t>
            </a:r>
          </a:p>
          <a:p>
            <a:pPr>
              <a:spcBef>
                <a:spcPts val="400"/>
              </a:spcBef>
              <a:defRPr sz="1400" b="1">
                <a:solidFill>
                  <a:srgbClr val="2E7D32"/>
                </a:solidFill>
              </a:defRPr>
            </a:pPr>
            <a:r>
              <a:t>~40 LUTs needed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7772400" cy="914400"/>
          </a:xfrm>
          <a:prstGeom prst="rect">
            <a:avLst/>
          </a:prstGeom>
          <a:solidFill>
            <a:srgbClr val="FFFAF0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 wrap="square"/>
          <a:lstStyle/>
          <a:p>
            <a:pPr algn="ctr">
              <a:defRPr sz="1800" b="1">
                <a:solidFill>
                  <a:srgbClr val="E65100"/>
                </a:solidFill>
              </a:defRPr>
            </a:pPr>
            <a:r>
              <a:t>Algorithmic Efficiency &gt; Data Width</a:t>
            </a:r>
          </a:p>
          <a:p>
            <a:pPr>
              <a:spcBef>
                <a:spcPts val="400"/>
              </a:spcBef>
              <a:defRPr sz="1500">
                <a:solidFill>
                  <a:srgbClr val="404040"/>
                </a:solidFill>
              </a:defRPr>
            </a:pPr>
            <a:r>
              <a:t>Smart algorithms beat brute-force narrowing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834640"/>
            <a:ext cx="7772400" cy="914400"/>
          </a:xfrm>
          <a:prstGeom prst="rect">
            <a:avLst/>
          </a:prstGeom>
          <a:solidFill>
            <a:srgbClr val="F0F8F8"/>
          </a:solidFill>
          <a:ln w="25400">
            <a:solidFill>
              <a:srgbClr val="1A7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 wrap="square"/>
          <a:lstStyle/>
          <a:p>
            <a:pPr algn="ctr">
              <a:defRPr sz="1800" b="1">
                <a:solidFill>
                  <a:srgbClr val="0F4C5C"/>
                </a:solidFill>
              </a:defRPr>
            </a:pPr>
            <a:r>
              <a:t>Trust Hardware Features</a:t>
            </a:r>
          </a:p>
          <a:p>
            <a:pPr>
              <a:spcBef>
                <a:spcPts val="400"/>
              </a:spcBef>
              <a:defRPr sz="1500">
                <a:solidFill>
                  <a:srgbClr val="404040"/>
                </a:solidFill>
              </a:defRPr>
            </a:pPr>
            <a:r>
              <a:t>Using signed arithmetic is more efficient than manual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40480"/>
            <a:ext cx="7772400" cy="914400"/>
          </a:xfrm>
          <a:prstGeom prst="rect">
            <a:avLst/>
          </a:prstGeom>
          <a:solidFill>
            <a:srgbClr val="F0F8F8"/>
          </a:solidFill>
          <a:ln w="25400">
            <a:solidFill>
              <a:srgbClr val="1A7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 wrap="square"/>
          <a:lstStyle/>
          <a:p>
            <a:pPr algn="ctr">
              <a:defRPr sz="1800" b="1">
                <a:solidFill>
                  <a:srgbClr val="0F4C5C"/>
                </a:solidFill>
              </a:defRPr>
            </a:pPr>
            <a:r>
              <a:t>Consistency Across Metrics</a:t>
            </a:r>
          </a:p>
          <a:p>
            <a:pPr>
              <a:spcBef>
                <a:spcPts val="400"/>
              </a:spcBef>
              <a:defRPr sz="1500">
                <a:solidFill>
                  <a:srgbClr val="404040"/>
                </a:solidFill>
              </a:defRPr>
            </a:pPr>
            <a:r>
              <a:t>LUTs, power, timing, and performance all confirm the same pattern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846320"/>
            <a:ext cx="7772400" cy="914400"/>
          </a:xfrm>
          <a:prstGeom prst="rect">
            <a:avLst/>
          </a:prstGeom>
          <a:solidFill>
            <a:srgbClr val="F0F8F8"/>
          </a:solidFill>
          <a:ln w="25400">
            <a:solidFill>
              <a:srgbClr val="1A75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 wrap="square"/>
          <a:lstStyle/>
          <a:p>
            <a:pPr algn="ctr">
              <a:defRPr sz="1800" b="1">
                <a:solidFill>
                  <a:srgbClr val="0F4C5C"/>
                </a:solidFill>
              </a:defRPr>
            </a:pPr>
            <a:r>
              <a:t>Educational Value</a:t>
            </a:r>
          </a:p>
          <a:p>
            <a:pPr>
              <a:spcBef>
                <a:spcPts val="400"/>
              </a:spcBef>
              <a:defRPr sz="1500">
                <a:solidFill>
                  <a:srgbClr val="404040"/>
                </a:solidFill>
              </a:defRPr>
            </a:pPr>
            <a:r>
              <a:t>Demonstrates that design choices matter more than architectural width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Answering Our 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4C5C"/>
                </a:solidFill>
              </a:defRPr>
            </a:pPr>
            <a:r>
              <a:t>RQ1: Data width vs resources?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68580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→ NO - 16-bit uses MORE despite being narrower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4C5C"/>
                </a:solidFill>
              </a:defRPr>
            </a:pPr>
            <a:r>
              <a:t>RQ2: Algorithmic choices?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017520"/>
            <a:ext cx="68580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→ YES - Algorithm dominates (6 ops vs 2 ops)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4C5C"/>
                </a:solidFill>
              </a:defRPr>
            </a:pPr>
            <a:r>
              <a:t>RQ3: Performance implications?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023360"/>
            <a:ext cx="68580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→ SIGNIFICANT - 21% faster, 14% less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4C5C"/>
                </a:solidFill>
              </a:defRPr>
            </a:pPr>
            <a:r>
              <a:t>RQ4: Educational insights?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5029200"/>
            <a:ext cx="68580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→ YES - Teaches optimization principles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Smart Design Beats Brute-Force Narrowing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4C5C"/>
                </a:solidFill>
              </a:defRPr>
            </a:pPr>
            <a:r>
              <a:t>✓ 32-bit processor is more efficient overall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4C5C"/>
                </a:solidFill>
              </a:defRPr>
            </a:pPr>
            <a:r>
              <a:t>✓ Algorithmic complexity matters more than data width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79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4C5C"/>
                </a:solidFill>
              </a:defRPr>
            </a:pPr>
            <a:r>
              <a:t>✓ Trust hardware features (signed arithmetic)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19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4C5C"/>
                </a:solidFill>
              </a:defRPr>
            </a:pPr>
            <a:r>
              <a:t>✓ Practical lesson for future processor designs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4DB6AC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Ricardo Herrera-Pineda, Sean Wygant,</a:t>
            </a:r>
          </a:p>
          <a:p>
            <a:r>
              <a:t>Daniel Mondragon, Heba Hafez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